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3" r:id="rId2"/>
    <p:sldId id="337" r:id="rId3"/>
    <p:sldId id="324" r:id="rId4"/>
    <p:sldId id="338" r:id="rId5"/>
    <p:sldId id="339" r:id="rId6"/>
    <p:sldId id="340" r:id="rId7"/>
    <p:sldId id="341" r:id="rId8"/>
    <p:sldId id="342" r:id="rId9"/>
    <p:sldId id="325" r:id="rId10"/>
    <p:sldId id="328" r:id="rId11"/>
    <p:sldId id="327" r:id="rId12"/>
    <p:sldId id="329" r:id="rId13"/>
    <p:sldId id="330" r:id="rId14"/>
    <p:sldId id="299" r:id="rId15"/>
    <p:sldId id="334" r:id="rId16"/>
    <p:sldId id="335" r:id="rId17"/>
    <p:sldId id="331" r:id="rId18"/>
    <p:sldId id="332" r:id="rId19"/>
    <p:sldId id="333" r:id="rId20"/>
    <p:sldId id="290" r:id="rId21"/>
    <p:sldId id="303" r:id="rId22"/>
    <p:sldId id="336" r:id="rId23"/>
    <p:sldId id="301" r:id="rId24"/>
    <p:sldId id="302" r:id="rId25"/>
    <p:sldId id="310" r:id="rId26"/>
    <p:sldId id="311" r:id="rId27"/>
    <p:sldId id="300" r:id="rId28"/>
    <p:sldId id="304" r:id="rId29"/>
    <p:sldId id="312" r:id="rId30"/>
    <p:sldId id="313" r:id="rId31"/>
    <p:sldId id="305" r:id="rId32"/>
    <p:sldId id="314" r:id="rId33"/>
    <p:sldId id="306" r:id="rId34"/>
    <p:sldId id="307" r:id="rId35"/>
    <p:sldId id="315" r:id="rId36"/>
    <p:sldId id="316" r:id="rId37"/>
    <p:sldId id="317" r:id="rId38"/>
    <p:sldId id="318" r:id="rId39"/>
    <p:sldId id="308" r:id="rId40"/>
    <p:sldId id="309" r:id="rId41"/>
    <p:sldId id="319" r:id="rId42"/>
    <p:sldId id="322" r:id="rId43"/>
    <p:sldId id="320" r:id="rId44"/>
    <p:sldId id="321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2FA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475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olute.googlecode.com/svn/trunk/projects/dm/vo-dml/models/source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gavo.mpa-garching.mpg.de/dev/vodml-mapper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gavo.mpa-garching.mpg.de/dev/vodml-mapper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Mapping VO-DML data models to TABLEs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Prototypes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401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NOT a data model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" y="0"/>
            <a:ext cx="1760220" cy="1661160"/>
          </a:xfr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186" y="1447800"/>
            <a:ext cx="3835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1757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6400800" cy="563562"/>
          </a:xfrm>
        </p:spPr>
        <p:txBody>
          <a:bodyPr/>
          <a:lstStyle/>
          <a:p>
            <a:r>
              <a:rPr lang="en-US" sz="3200" dirty="0" smtClean="0"/>
              <a:t>This is a data model</a:t>
            </a:r>
            <a:br>
              <a:rPr lang="en-US" sz="3200" dirty="0" smtClean="0"/>
            </a:br>
            <a:r>
              <a:rPr lang="en-US" sz="3200" dirty="0" smtClean="0"/>
              <a:t>(a simple on)</a:t>
            </a:r>
            <a:endParaRPr lang="en-US" dirty="0"/>
          </a:p>
        </p:txBody>
      </p:sp>
      <p:pic>
        <p:nvPicPr>
          <p:cNvPr id="1026" name="Picture 2" descr="C:\workspaces\eclipse_VO-URP\vo-dml\models\source\SourceDM-UM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914400"/>
            <a:ext cx="6248400" cy="5540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35559"/>
            <a:ext cx="2389054" cy="2389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6299" y="6454508"/>
            <a:ext cx="7859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 </a:t>
            </a:r>
            <a:r>
              <a:rPr lang="en-US" dirty="0">
                <a:hlinkClick r:id="rId4"/>
              </a:rPr>
              <a:t>https://volute.googlecode.com/svn/trunk/projects/dm/vo-dml/models/source</a:t>
            </a:r>
            <a:r>
              <a:rPr lang="en-US" dirty="0"/>
              <a:t> ) </a:t>
            </a:r>
          </a:p>
        </p:txBody>
      </p:sp>
    </p:spTree>
    <p:extLst>
      <p:ext uri="{BB962C8B-B14F-4D97-AF65-F5344CB8AC3E}">
        <p14:creationId xmlns:p14="http://schemas.microsoft.com/office/powerpoint/2010/main" val="3187205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VO-DML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Models can be complex</a:t>
            </a:r>
          </a:p>
          <a:p>
            <a:pPr lvl="1"/>
            <a:r>
              <a:rPr lang="en-US" dirty="0" smtClean="0"/>
              <a:t>graphs, not trees, definitely not lists</a:t>
            </a:r>
          </a:p>
          <a:p>
            <a:pPr lvl="1"/>
            <a:r>
              <a:rPr lang="en-US" dirty="0" smtClean="0"/>
              <a:t>relationships can be one-to-many, many-to-one, many-many</a:t>
            </a:r>
          </a:p>
          <a:p>
            <a:r>
              <a:rPr lang="en-US" dirty="0" smtClean="0"/>
              <a:t>VERY advantageous to have a common language</a:t>
            </a:r>
          </a:p>
          <a:p>
            <a:pPr lvl="1"/>
            <a:r>
              <a:rPr lang="en-US" dirty="0" smtClean="0"/>
              <a:t>supporting comparison, reuse</a:t>
            </a:r>
          </a:p>
          <a:p>
            <a:pPr lvl="1"/>
            <a:r>
              <a:rPr lang="en-US" dirty="0" smtClean="0"/>
              <a:t>machine readable</a:t>
            </a:r>
          </a:p>
          <a:p>
            <a:pPr lvl="1"/>
            <a:r>
              <a:rPr lang="en-US" dirty="0" smtClean="0"/>
              <a:t>standard processing tools</a:t>
            </a:r>
          </a:p>
          <a:p>
            <a:pPr lvl="1"/>
            <a:r>
              <a:rPr lang="en-US" dirty="0" smtClean="0"/>
              <a:t>standard </a:t>
            </a:r>
            <a:r>
              <a:rPr lang="en-US" dirty="0" err="1" smtClean="0"/>
              <a:t>serialisation</a:t>
            </a:r>
            <a:r>
              <a:rPr lang="en-US" dirty="0" smtClean="0"/>
              <a:t>, mapping </a:t>
            </a:r>
            <a:r>
              <a:rPr lang="en-US" dirty="0" err="1" smtClean="0"/>
              <a:t>etc</a:t>
            </a:r>
            <a:r>
              <a:rPr lang="en-US" dirty="0" smtClean="0"/>
              <a:t>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VO-DML is such a language</a:t>
            </a:r>
          </a:p>
          <a:p>
            <a:pPr lvl="1"/>
            <a:r>
              <a:rPr lang="en-US" dirty="0" smtClean="0"/>
              <a:t>VO-UML</a:t>
            </a:r>
          </a:p>
          <a:p>
            <a:pPr lvl="1"/>
            <a:r>
              <a:rPr lang="en-US" dirty="0" smtClean="0"/>
              <a:t>VO-DML/XML</a:t>
            </a:r>
          </a:p>
          <a:p>
            <a:pPr lvl="1"/>
            <a:r>
              <a:rPr lang="en-US" dirty="0" smtClean="0"/>
              <a:t>VO-DML/I</a:t>
            </a:r>
          </a:p>
        </p:txBody>
      </p:sp>
    </p:spTree>
    <p:extLst>
      <p:ext uri="{BB962C8B-B14F-4D97-AF65-F5344CB8AC3E}">
        <p14:creationId xmlns:p14="http://schemas.microsoft.com/office/powerpoint/2010/main" val="1101801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Prototypes for VO-DML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IVOA </a:t>
            </a:r>
            <a:r>
              <a:rPr lang="en-US" dirty="0"/>
              <a:t>models have been </a:t>
            </a:r>
            <a:r>
              <a:rPr lang="en-US" dirty="0" smtClean="0"/>
              <a:t>ported to VO-DML, </a:t>
            </a:r>
            <a:r>
              <a:rPr lang="en-US" dirty="0"/>
              <a:t>some explicitly reusing </a:t>
            </a:r>
            <a:r>
              <a:rPr lang="en-US" dirty="0" smtClean="0"/>
              <a:t>others.</a:t>
            </a:r>
          </a:p>
          <a:p>
            <a:pPr lvl="1"/>
            <a:r>
              <a:rPr lang="en-US" dirty="0" smtClean="0"/>
              <a:t>see &lt;volute&gt;/</a:t>
            </a:r>
            <a:r>
              <a:rPr lang="en-US" dirty="0" err="1" smtClean="0"/>
              <a:t>vo-dml</a:t>
            </a:r>
            <a:r>
              <a:rPr lang="en-US" dirty="0" smtClean="0"/>
              <a:t>/models</a:t>
            </a:r>
          </a:p>
          <a:p>
            <a:pPr lvl="1"/>
            <a:r>
              <a:rPr lang="en-US" dirty="0" smtClean="0"/>
              <a:t>MUST be worked on</a:t>
            </a:r>
            <a:endParaRPr lang="en-US" dirty="0"/>
          </a:p>
          <a:p>
            <a:r>
              <a:rPr lang="en-US" dirty="0" smtClean="0"/>
              <a:t>ant target ‘</a:t>
            </a:r>
            <a:r>
              <a:rPr lang="en-US" dirty="0" err="1"/>
              <a:t>validate_vo-dml</a:t>
            </a:r>
            <a:r>
              <a:rPr lang="en-US" dirty="0"/>
              <a:t>’ </a:t>
            </a:r>
            <a:r>
              <a:rPr lang="en-US" dirty="0" smtClean="0"/>
              <a:t>for validating VO-DML/XML documents</a:t>
            </a:r>
          </a:p>
          <a:p>
            <a:pPr lvl="1"/>
            <a:r>
              <a:rPr lang="en-US" dirty="0" smtClean="0"/>
              <a:t>see &lt;volute&gt;/</a:t>
            </a:r>
            <a:r>
              <a:rPr lang="en-US" dirty="0" err="1" smtClean="0"/>
              <a:t>vo-dml</a:t>
            </a:r>
            <a:r>
              <a:rPr lang="en-US" dirty="0" smtClean="0"/>
              <a:t>/build.xml</a:t>
            </a:r>
          </a:p>
          <a:p>
            <a:r>
              <a:rPr lang="en-US" dirty="0" smtClean="0"/>
              <a:t>XSLT </a:t>
            </a:r>
            <a:r>
              <a:rPr lang="en-US" dirty="0"/>
              <a:t>script written to generate HTML, Java form these </a:t>
            </a:r>
          </a:p>
          <a:p>
            <a:pPr lvl="1"/>
            <a:r>
              <a:rPr lang="en-US" dirty="0" smtClean="0"/>
              <a:t>See &lt;volute&gt;/</a:t>
            </a:r>
            <a:r>
              <a:rPr lang="en-US" dirty="0" err="1" smtClean="0"/>
              <a:t>vo-dml</a:t>
            </a:r>
            <a:r>
              <a:rPr lang="en-US" dirty="0" smtClean="0"/>
              <a:t>/</a:t>
            </a:r>
            <a:r>
              <a:rPr lang="en-US" dirty="0" err="1" smtClean="0"/>
              <a:t>xslt</a:t>
            </a:r>
            <a:endParaRPr lang="en-US" dirty="0" smtClean="0"/>
          </a:p>
          <a:p>
            <a:pPr lvl="1"/>
            <a:r>
              <a:rPr lang="en-US" dirty="0" smtClean="0"/>
              <a:t>run from same ant </a:t>
            </a:r>
            <a:r>
              <a:rPr lang="en-US" dirty="0" err="1" smtClean="0"/>
              <a:t>fscript</a:t>
            </a:r>
            <a:endParaRPr lang="en-US" dirty="0" smtClean="0"/>
          </a:p>
          <a:p>
            <a:pPr lvl="1"/>
            <a:r>
              <a:rPr lang="en-US" dirty="0" smtClean="0"/>
              <a:t>VO-URP also </a:t>
            </a:r>
            <a:r>
              <a:rPr lang="en-US" dirty="0"/>
              <a:t>XSD, RDB+TAP </a:t>
            </a:r>
            <a:r>
              <a:rPr lang="en-US" dirty="0" smtClean="0"/>
              <a:t>schemas; web application using the VO-DML representation.</a:t>
            </a:r>
            <a:endParaRPr lang="en-US" dirty="0"/>
          </a:p>
          <a:p>
            <a:r>
              <a:rPr lang="en-US" dirty="0"/>
              <a:t>XSLT scripts have been written generating VO-DML from </a:t>
            </a:r>
            <a:r>
              <a:rPr lang="en-US" dirty="0" smtClean="0"/>
              <a:t>XMI</a:t>
            </a:r>
          </a:p>
          <a:p>
            <a:pPr lvl="1"/>
            <a:r>
              <a:rPr lang="en-US" dirty="0" smtClean="0"/>
              <a:t>for </a:t>
            </a:r>
            <a:r>
              <a:rPr lang="en-US" dirty="0" err="1" smtClean="0"/>
              <a:t>MAgicDraw</a:t>
            </a:r>
            <a:r>
              <a:rPr lang="en-US" dirty="0" smtClean="0"/>
              <a:t> CE 12.1: ant run_xmi2vo-dml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509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Prototypes for UTYPE mapping: </a:t>
            </a:r>
            <a:br>
              <a:rPr lang="en-US" dirty="0" smtClean="0"/>
            </a:br>
            <a:r>
              <a:rPr lang="en-US" dirty="0" smtClean="0"/>
              <a:t>VO-DML </a:t>
            </a:r>
            <a:r>
              <a:rPr lang="en-US" dirty="0"/>
              <a:t>Mapper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web app for mapping models to tables</a:t>
            </a:r>
          </a:p>
          <a:p>
            <a:pPr lvl="1"/>
            <a:r>
              <a:rPr lang="en-US" dirty="0">
                <a:hlinkClick r:id="rId2"/>
              </a:rPr>
              <a:t>http://gavo.mpa-garching.mpg.de/dev/vodml-mapper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smtClean="0"/>
              <a:t>allows importing VO-DML data models</a:t>
            </a:r>
          </a:p>
          <a:p>
            <a:r>
              <a:rPr lang="en-US" dirty="0" smtClean="0"/>
              <a:t>allows importing TABLES</a:t>
            </a:r>
          </a:p>
          <a:p>
            <a:pPr lvl="1"/>
            <a:r>
              <a:rPr lang="en-US" dirty="0" smtClean="0"/>
              <a:t>from TAP_SCHEMAs</a:t>
            </a:r>
          </a:p>
          <a:p>
            <a:pPr lvl="1"/>
            <a:r>
              <a:rPr lang="en-US" dirty="0" smtClean="0"/>
              <a:t>from VOTable-s</a:t>
            </a:r>
          </a:p>
          <a:p>
            <a:pPr lvl="1"/>
            <a:r>
              <a:rPr lang="en-US" dirty="0" smtClean="0"/>
              <a:t>from </a:t>
            </a:r>
            <a:r>
              <a:rPr lang="en-US" dirty="0" err="1" smtClean="0"/>
              <a:t>VizieR</a:t>
            </a:r>
            <a:endParaRPr lang="en-US" dirty="0" smtClean="0"/>
          </a:p>
          <a:p>
            <a:r>
              <a:rPr lang="en-US" dirty="0" smtClean="0"/>
              <a:t>Allows drag-and-drop linking of VO-DML components to TABLEs and COLUMNs</a:t>
            </a:r>
          </a:p>
          <a:p>
            <a:r>
              <a:rPr lang="en-US" dirty="0" smtClean="0"/>
              <a:t>Can generate a VOTable describing the mapping of the tables.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013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Prototypes for UTYPE mapping: </a:t>
            </a:r>
            <a:br>
              <a:rPr lang="en-US" dirty="0"/>
            </a:br>
            <a:r>
              <a:rPr lang="en-US" dirty="0" smtClean="0"/>
              <a:t>Java based validator and interpreter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62500" lnSpcReduction="20000"/>
          </a:bodyPr>
          <a:lstStyle/>
          <a:p>
            <a:endParaRPr lang="en-US" dirty="0" smtClean="0"/>
          </a:p>
          <a:p>
            <a:r>
              <a:rPr lang="en-US" dirty="0" smtClean="0"/>
              <a:t>Given a VO-DML-annotated VOTable:</a:t>
            </a:r>
          </a:p>
          <a:p>
            <a:pPr lvl="1"/>
            <a:r>
              <a:rPr lang="en-US" dirty="0" smtClean="0"/>
              <a:t>validates annotation based on VO-DML models</a:t>
            </a:r>
          </a:p>
          <a:p>
            <a:pPr lvl="1"/>
            <a:r>
              <a:rPr lang="en-US" dirty="0" smtClean="0"/>
              <a:t>interprets annotation</a:t>
            </a:r>
          </a:p>
          <a:p>
            <a:r>
              <a:rPr lang="en-US" dirty="0" smtClean="0"/>
              <a:t>Validation:</a:t>
            </a:r>
          </a:p>
          <a:p>
            <a:pPr lvl="1"/>
            <a:r>
              <a:rPr lang="en-US" dirty="0" smtClean="0"/>
              <a:t>import the declared models (and any models down-stream)</a:t>
            </a:r>
          </a:p>
          <a:p>
            <a:pPr lvl="1"/>
            <a:r>
              <a:rPr lang="en-US" dirty="0" smtClean="0"/>
              <a:t>check whether declared utypes exist in a VO-DML model</a:t>
            </a:r>
          </a:p>
          <a:p>
            <a:pPr lvl="1"/>
            <a:r>
              <a:rPr lang="en-US" dirty="0" smtClean="0"/>
              <a:t>check whether (annotated) components of annotated GROUPs are compatible with annotation of parent</a:t>
            </a:r>
          </a:p>
          <a:p>
            <a:r>
              <a:rPr lang="en-US" dirty="0" smtClean="0"/>
              <a:t>Interpretation:</a:t>
            </a:r>
          </a:p>
          <a:p>
            <a:pPr lvl="1"/>
            <a:r>
              <a:rPr lang="en-US" dirty="0" smtClean="0"/>
              <a:t>infer from VOTable which Java objects can be inferred</a:t>
            </a:r>
            <a:endParaRPr lang="en-US" dirty="0"/>
          </a:p>
          <a:p>
            <a:pPr lvl="1"/>
            <a:r>
              <a:rPr lang="en-US" dirty="0" smtClean="0"/>
              <a:t>Use generated Java classes</a:t>
            </a:r>
          </a:p>
          <a:p>
            <a:pPr lvl="1"/>
            <a:r>
              <a:rPr lang="en-US" dirty="0" smtClean="0"/>
              <a:t>instantiate collections of objects of proper type, filled with contents (attributes, collections </a:t>
            </a:r>
            <a:r>
              <a:rPr lang="en-US" dirty="0" err="1" smtClean="0"/>
              <a:t>etc</a:t>
            </a:r>
            <a:r>
              <a:rPr lang="en-US" dirty="0" smtClean="0"/>
              <a:t>).</a:t>
            </a:r>
          </a:p>
          <a:p>
            <a:pPr lvl="1"/>
            <a:r>
              <a:rPr lang="en-US" dirty="0" smtClean="0"/>
              <a:t>Create default serialization (VO-DML/I)</a:t>
            </a:r>
          </a:p>
          <a:p>
            <a:r>
              <a:rPr lang="en-US" dirty="0" smtClean="0"/>
              <a:t>See &lt;volute&gt;/</a:t>
            </a:r>
            <a:r>
              <a:rPr lang="en-US" dirty="0" err="1" smtClean="0"/>
              <a:t>vo-dml</a:t>
            </a:r>
            <a:r>
              <a:rPr lang="en-US" dirty="0" smtClean="0"/>
              <a:t>/java</a:t>
            </a:r>
          </a:p>
          <a:p>
            <a:pPr lvl="1"/>
            <a:r>
              <a:rPr lang="en-US" dirty="0" err="1" smtClean="0"/>
              <a:t>src</a:t>
            </a:r>
            <a:r>
              <a:rPr lang="en-US" dirty="0" smtClean="0"/>
              <a:t>: </a:t>
            </a:r>
            <a:r>
              <a:rPr lang="en-US" dirty="0" err="1" smtClean="0"/>
              <a:t>org.ivoa.vodml.mapping.VOTableInterpreter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58035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563562"/>
          </a:xfrm>
        </p:spPr>
        <p:txBody>
          <a:bodyPr/>
          <a:lstStyle/>
          <a:p>
            <a:r>
              <a:rPr lang="en-US" dirty="0" smtClean="0"/>
              <a:t>Possible prototype effort</a:t>
            </a:r>
            <a:br>
              <a:rPr lang="en-US" dirty="0" smtClean="0"/>
            </a:br>
            <a:r>
              <a:rPr lang="en-US" dirty="0" smtClean="0"/>
              <a:t>(Laurent ?)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Annotate specific </a:t>
            </a:r>
            <a:r>
              <a:rPr lang="en-US" dirty="0" err="1" smtClean="0"/>
              <a:t>VizieR</a:t>
            </a:r>
            <a:r>
              <a:rPr lang="en-US" dirty="0" smtClean="0"/>
              <a:t> tables with source data model</a:t>
            </a:r>
          </a:p>
          <a:p>
            <a:pPr lvl="1"/>
            <a:r>
              <a:rPr lang="en-US" dirty="0" smtClean="0"/>
              <a:t>NB requires sophisticated source data model</a:t>
            </a:r>
          </a:p>
          <a:p>
            <a:pPr lvl="1"/>
            <a:r>
              <a:rPr lang="en-US" dirty="0" smtClean="0"/>
              <a:t>VO-DML Mapper can help?</a:t>
            </a:r>
          </a:p>
          <a:p>
            <a:r>
              <a:rPr lang="en-US" dirty="0" smtClean="0"/>
              <a:t>Create X-match model</a:t>
            </a:r>
          </a:p>
          <a:p>
            <a:pPr lvl="1"/>
            <a:r>
              <a:rPr lang="en-US" dirty="0" smtClean="0"/>
              <a:t>using Source model</a:t>
            </a:r>
          </a:p>
          <a:p>
            <a:r>
              <a:rPr lang="en-US" dirty="0" smtClean="0"/>
              <a:t>From tool that can query </a:t>
            </a:r>
            <a:r>
              <a:rPr lang="en-US" dirty="0" err="1" smtClean="0"/>
              <a:t>VizieR</a:t>
            </a:r>
            <a:r>
              <a:rPr lang="en-US" dirty="0" smtClean="0"/>
              <a:t> tables</a:t>
            </a:r>
          </a:p>
          <a:p>
            <a:pPr lvl="1"/>
            <a:r>
              <a:rPr lang="en-US" dirty="0" smtClean="0"/>
              <a:t>interpret results using Source model</a:t>
            </a:r>
          </a:p>
          <a:p>
            <a:pPr lvl="1"/>
            <a:r>
              <a:rPr lang="en-US" dirty="0" smtClean="0"/>
              <a:t>would be nice if </a:t>
            </a:r>
            <a:r>
              <a:rPr lang="en-US" dirty="0" err="1" smtClean="0"/>
              <a:t>VizieR</a:t>
            </a:r>
            <a:r>
              <a:rPr lang="en-US" dirty="0" smtClean="0"/>
              <a:t> returned properly annotated result!</a:t>
            </a:r>
          </a:p>
          <a:p>
            <a:r>
              <a:rPr lang="en-US" dirty="0" smtClean="0"/>
              <a:t>Match collections of Sources</a:t>
            </a:r>
          </a:p>
          <a:p>
            <a:pPr lvl="1"/>
            <a:r>
              <a:rPr lang="en-US" dirty="0" smtClean="0"/>
              <a:t>i.e. “code against the DM, not the tables!)</a:t>
            </a:r>
          </a:p>
          <a:p>
            <a:pPr lvl="1"/>
            <a:r>
              <a:rPr lang="en-US" dirty="0" smtClean="0"/>
              <a:t>Produces </a:t>
            </a:r>
            <a:r>
              <a:rPr lang="en-US" dirty="0" err="1" smtClean="0"/>
              <a:t>CrossIdentification</a:t>
            </a:r>
            <a:r>
              <a:rPr lang="en-US" dirty="0" smtClean="0"/>
              <a:t> objects from X-Match</a:t>
            </a:r>
          </a:p>
          <a:p>
            <a:r>
              <a:rPr lang="en-US" dirty="0" smtClean="0"/>
              <a:t>This makes final step: </a:t>
            </a:r>
          </a:p>
          <a:p>
            <a:pPr lvl="1"/>
            <a:r>
              <a:rPr lang="en-US" dirty="0" smtClean="0"/>
              <a:t>coding against a global </a:t>
            </a:r>
            <a:r>
              <a:rPr lang="en-US" i="1" dirty="0" smtClean="0"/>
              <a:t>model</a:t>
            </a:r>
            <a:r>
              <a:rPr lang="en-US" dirty="0" smtClean="0"/>
              <a:t> rather than against serializations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9521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VO-DML/VO-UML: Types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358537"/>
            <a:ext cx="1645920" cy="883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72992" y="1487269"/>
            <a:ext cx="22038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VO-DML: ObjectType </a:t>
            </a:r>
          </a:p>
          <a:p>
            <a:r>
              <a:rPr lang="en-US" dirty="0" smtClean="0"/>
              <a:t>UML: Classifier</a:t>
            </a:r>
          </a:p>
        </p:txBody>
      </p:sp>
      <p:pic>
        <p:nvPicPr>
          <p:cNvPr id="2050" name="Picture 2" descr="C:\workspaces\eclipse_VO-URP\vo-dml\doc\images\datatyp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177540"/>
            <a:ext cx="1783080" cy="708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743200" y="3177540"/>
            <a:ext cx="20209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VO-DML: </a:t>
            </a:r>
            <a:r>
              <a:rPr lang="en-US" dirty="0" smtClean="0"/>
              <a:t>DataType </a:t>
            </a:r>
          </a:p>
          <a:p>
            <a:r>
              <a:rPr lang="en-US" dirty="0" smtClean="0"/>
              <a:t>UML: DataType</a:t>
            </a:r>
            <a:endParaRPr lang="en-US" dirty="0"/>
          </a:p>
        </p:txBody>
      </p:sp>
      <p:pic>
        <p:nvPicPr>
          <p:cNvPr id="2052" name="Picture 4" descr="C:\workspaces\eclipse_VO-URP\vo-dml\doc\images\enumeratio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06" y="5334000"/>
            <a:ext cx="1059180" cy="100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644227" y="4382869"/>
            <a:ext cx="2421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VO-DML: </a:t>
            </a:r>
            <a:r>
              <a:rPr lang="en-US" dirty="0" smtClean="0"/>
              <a:t>PrimitiveType </a:t>
            </a:r>
          </a:p>
          <a:p>
            <a:r>
              <a:rPr lang="en-US" dirty="0" smtClean="0"/>
              <a:t>UML: </a:t>
            </a:r>
            <a:r>
              <a:rPr lang="en-US" dirty="0"/>
              <a:t>PrimitiveType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2456" y="5513754"/>
            <a:ext cx="23019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VO-DML: </a:t>
            </a:r>
            <a:r>
              <a:rPr lang="en-US" dirty="0" smtClean="0"/>
              <a:t>Enumeration</a:t>
            </a:r>
          </a:p>
          <a:p>
            <a:r>
              <a:rPr lang="en-US" dirty="0" smtClean="0"/>
              <a:t>UML: </a:t>
            </a:r>
            <a:r>
              <a:rPr lang="en-US" dirty="0"/>
              <a:t>Enumeration</a:t>
            </a:r>
          </a:p>
        </p:txBody>
      </p:sp>
      <p:pic>
        <p:nvPicPr>
          <p:cNvPr id="2053" name="Picture 5" descr="C:\workspaces\eclipse_VO-URP\vo-dml\doc\images\primitivetyp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46" y="4469814"/>
            <a:ext cx="1485900" cy="47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workspaces\eclipse_VO-URP\vo-dml\doc\images\inheritance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399488"/>
            <a:ext cx="1645920" cy="1684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5867400" y="4354839"/>
            <a:ext cx="29999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VO-DML: Extends, inheritance</a:t>
            </a:r>
          </a:p>
          <a:p>
            <a:r>
              <a:rPr lang="en-US" dirty="0" smtClean="0"/>
              <a:t>UML: generalization</a:t>
            </a:r>
            <a:endParaRPr lang="en-US" dirty="0"/>
          </a:p>
        </p:txBody>
      </p:sp>
      <p:pic>
        <p:nvPicPr>
          <p:cNvPr id="17" name="Picture 3" descr="C:\workspaces\eclipse_VO-URP\vo-dml\doc\images\primitivetype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532017"/>
            <a:ext cx="1417320" cy="147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46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VO-DML/VO-UML: Roles and Relationships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280" y="982839"/>
            <a:ext cx="164592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07124" y="3459760"/>
            <a:ext cx="3336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Collection, </a:t>
            </a:r>
            <a:r>
              <a:rPr lang="en-US" dirty="0"/>
              <a:t>between </a:t>
            </a:r>
            <a:r>
              <a:rPr lang="en-US" dirty="0" smtClean="0"/>
              <a:t>ObjectType-s</a:t>
            </a:r>
          </a:p>
          <a:p>
            <a:r>
              <a:rPr lang="en-US" dirty="0" smtClean="0"/>
              <a:t>UML: composition relationship </a:t>
            </a:r>
          </a:p>
        </p:txBody>
      </p:sp>
      <p:pic>
        <p:nvPicPr>
          <p:cNvPr id="3075" name="Picture 3" descr="C:\workspaces\eclipse_VO-URP\vo-dml\doc\images\reference_OT2O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191000"/>
            <a:ext cx="4244340" cy="1706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72791" y="5897880"/>
            <a:ext cx="41239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Reference </a:t>
            </a:r>
          </a:p>
          <a:p>
            <a:r>
              <a:rPr lang="en-US" dirty="0" smtClean="0"/>
              <a:t>UML: shared, navigable binary association</a:t>
            </a:r>
            <a:endParaRPr lang="en-US" dirty="0"/>
          </a:p>
        </p:txBody>
      </p:sp>
      <p:pic>
        <p:nvPicPr>
          <p:cNvPr id="3076" name="Picture 4" descr="C:\workspaces\eclipse_VO-URP\vo-dml\doc\images\reference_DT2O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949" y="4591050"/>
            <a:ext cx="3444240" cy="906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724400" y="5955714"/>
            <a:ext cx="4445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Reference, also from DataType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smtClean="0"/>
              <a:t>ObjectType</a:t>
            </a:r>
            <a:endParaRPr lang="en-US" dirty="0"/>
          </a:p>
        </p:txBody>
      </p:sp>
      <p:pic>
        <p:nvPicPr>
          <p:cNvPr id="13" name="Content Placeholder 3"/>
          <p:cNvPicPr>
            <a:picLocks noGrp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610" y="1371600"/>
            <a:ext cx="1645920" cy="883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1345" y="2413727"/>
            <a:ext cx="378539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VO-DML: </a:t>
            </a:r>
            <a:r>
              <a:rPr lang="en-US" dirty="0" smtClean="0"/>
              <a:t>Attribute,</a:t>
            </a:r>
          </a:p>
          <a:p>
            <a:r>
              <a:rPr lang="en-US" dirty="0" smtClean="0"/>
              <a:t>Role a </a:t>
            </a:r>
            <a:r>
              <a:rPr lang="en-US" dirty="0" err="1" smtClean="0"/>
              <a:t>ValueType</a:t>
            </a:r>
            <a:r>
              <a:rPr lang="en-US" dirty="0" smtClean="0"/>
              <a:t> plays in definition of </a:t>
            </a:r>
          </a:p>
          <a:p>
            <a:r>
              <a:rPr lang="en-US" dirty="0" smtClean="0"/>
              <a:t>an ObjectType or DataType</a:t>
            </a:r>
            <a:endParaRPr lang="en-US" dirty="0"/>
          </a:p>
          <a:p>
            <a:r>
              <a:rPr lang="en-US" dirty="0"/>
              <a:t>UML: Property of </a:t>
            </a:r>
            <a:r>
              <a:rPr lang="en-US" dirty="0" err="1"/>
              <a:t>ValueType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294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Models describe </a:t>
            </a:r>
            <a:r>
              <a:rPr lang="en-US" i="1" dirty="0" smtClean="0"/>
              <a:t>Instances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VO-DML </a:t>
            </a:r>
            <a:r>
              <a:rPr lang="en-US" i="1" dirty="0" smtClean="0"/>
              <a:t>Model</a:t>
            </a:r>
            <a:r>
              <a:rPr lang="en-US" dirty="0" smtClean="0"/>
              <a:t> describes VO-DML </a:t>
            </a:r>
            <a:r>
              <a:rPr lang="en-US" i="1" dirty="0" smtClean="0"/>
              <a:t>instances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Instances of VO-DML types</a:t>
            </a:r>
          </a:p>
          <a:p>
            <a:pPr lvl="1"/>
            <a:r>
              <a:rPr lang="en-US" dirty="0" smtClean="0"/>
              <a:t>ObjectType </a:t>
            </a:r>
            <a:r>
              <a:rPr lang="en-US" dirty="0" smtClean="0">
                <a:sym typeface="Symbol"/>
              </a:rPr>
              <a:t> Object</a:t>
            </a:r>
          </a:p>
          <a:p>
            <a:pPr lvl="1"/>
            <a:r>
              <a:rPr lang="en-US" i="1" dirty="0" err="1" smtClean="0">
                <a:sym typeface="Symbol"/>
              </a:rPr>
              <a:t>ValueType</a:t>
            </a:r>
            <a:r>
              <a:rPr lang="en-US" dirty="0" smtClean="0">
                <a:sym typeface="Symbol"/>
              </a:rPr>
              <a:t>  Value</a:t>
            </a:r>
          </a:p>
          <a:p>
            <a:pPr lvl="1"/>
            <a:r>
              <a:rPr lang="en-US" dirty="0" smtClean="0">
                <a:sym typeface="Symbol"/>
              </a:rPr>
              <a:t>Attribute  </a:t>
            </a:r>
          </a:p>
          <a:p>
            <a:r>
              <a:rPr lang="en-US" dirty="0" smtClean="0">
                <a:sym typeface="Symbol"/>
              </a:rPr>
              <a:t>Relationships between types  relations between objects</a:t>
            </a:r>
          </a:p>
          <a:p>
            <a:pPr lvl="1"/>
            <a:r>
              <a:rPr lang="en-US" dirty="0" smtClean="0">
                <a:sym typeface="Symbol"/>
              </a:rPr>
              <a:t>Collection  Containment</a:t>
            </a:r>
          </a:p>
          <a:p>
            <a:pPr lvl="1"/>
            <a:r>
              <a:rPr lang="en-US" dirty="0" smtClean="0">
                <a:sym typeface="Symbol"/>
              </a:rPr>
              <a:t>Reference  “Pointer”</a:t>
            </a:r>
          </a:p>
          <a:p>
            <a:pPr lvl="1"/>
            <a:r>
              <a:rPr lang="en-US" dirty="0" smtClean="0">
                <a:sym typeface="Symbol"/>
              </a:rPr>
              <a:t>Extends  Inheritance of properties (no relation between objects!)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235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Representing VO-DML instances in other meta-model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ables</a:t>
            </a:r>
          </a:p>
          <a:p>
            <a:pPr lvl="1"/>
            <a:r>
              <a:rPr lang="en-US" dirty="0" smtClean="0"/>
              <a:t>XML</a:t>
            </a:r>
          </a:p>
          <a:p>
            <a:pPr lvl="1"/>
            <a:r>
              <a:rPr lang="en-US" dirty="0" smtClean="0"/>
              <a:t>Java (in-memory)</a:t>
            </a:r>
          </a:p>
          <a:p>
            <a:r>
              <a:rPr lang="en-US" dirty="0" smtClean="0"/>
              <a:t>Serialization</a:t>
            </a:r>
          </a:p>
          <a:p>
            <a:r>
              <a:rPr lang="en-US" dirty="0" smtClean="0"/>
              <a:t>Mapping  = Linking/annotating serializations to identify model element they represent</a:t>
            </a:r>
          </a:p>
          <a:p>
            <a:pPr lvl="1"/>
            <a:r>
              <a:rPr lang="en-US" dirty="0" smtClean="0"/>
              <a:t>In UTYPE proposal such mapping is proposed for VOTable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911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 mapping:</a:t>
            </a:r>
            <a:br>
              <a:rPr lang="en-US" dirty="0" smtClean="0"/>
            </a:br>
            <a:r>
              <a:rPr lang="en-US" dirty="0" smtClean="0"/>
              <a:t>VO-DML </a:t>
            </a:r>
            <a:r>
              <a:rPr lang="en-US" dirty="0" smtClean="0">
                <a:sym typeface="Symbol"/>
              </a:rPr>
              <a:t> (VO)Table(s)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Represent </a:t>
            </a:r>
            <a:r>
              <a:rPr lang="en-US" i="1" dirty="0" smtClean="0"/>
              <a:t>instances</a:t>
            </a:r>
            <a:r>
              <a:rPr lang="en-US" dirty="0" smtClean="0"/>
              <a:t> and </a:t>
            </a:r>
            <a:r>
              <a:rPr lang="en-US" i="1" dirty="0" smtClean="0"/>
              <a:t>relationships</a:t>
            </a:r>
            <a:r>
              <a:rPr lang="en-US" dirty="0" smtClean="0"/>
              <a:t> visually</a:t>
            </a:r>
          </a:p>
          <a:p>
            <a:pPr lvl="1"/>
            <a:r>
              <a:rPr lang="en-US" dirty="0" smtClean="0"/>
              <a:t>Use UTYPEs to identify VO-DML types and roles</a:t>
            </a:r>
          </a:p>
          <a:p>
            <a:r>
              <a:rPr lang="en-US" dirty="0" smtClean="0"/>
              <a:t>Represent Table(s) visually</a:t>
            </a:r>
          </a:p>
          <a:p>
            <a:r>
              <a:rPr lang="en-US" dirty="0" smtClean="0"/>
              <a:t>Link VO-DML instances to Tables</a:t>
            </a:r>
          </a:p>
          <a:p>
            <a:pPr lvl="1"/>
            <a:r>
              <a:rPr lang="en-US" dirty="0" smtClean="0"/>
              <a:t>drawing lines between compatible components</a:t>
            </a:r>
          </a:p>
          <a:p>
            <a:r>
              <a:rPr lang="en-US" dirty="0" smtClean="0"/>
              <a:t>Translate to UTYPE based annotation</a:t>
            </a:r>
          </a:p>
          <a:p>
            <a:r>
              <a:rPr lang="en-US" dirty="0" smtClean="0"/>
              <a:t>Implemented in VO-DML Mapper</a:t>
            </a:r>
          </a:p>
          <a:p>
            <a:pPr lvl="1"/>
            <a:r>
              <a:rPr lang="en-US" sz="2400" dirty="0">
                <a:hlinkClick r:id="rId2"/>
              </a:rPr>
              <a:t>http://gavo.mpa-garching.mpg.de/dev/vodml-mapper</a:t>
            </a:r>
            <a:r>
              <a:rPr lang="en-US" sz="2400" dirty="0" smtClean="0">
                <a:hlinkClick r:id="rId2"/>
              </a:rPr>
              <a:t>/</a:t>
            </a: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1714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Mapper elements</a:t>
            </a:r>
            <a:endParaRPr lang="en-US" dirty="0"/>
          </a:p>
        </p:txBody>
      </p:sp>
      <p:grpSp>
        <p:nvGrpSpPr>
          <p:cNvPr id="41" name="Group 40"/>
          <p:cNvGrpSpPr/>
          <p:nvPr/>
        </p:nvGrpSpPr>
        <p:grpSpPr>
          <a:xfrm>
            <a:off x="6934199" y="2654690"/>
            <a:ext cx="1905001" cy="1600715"/>
            <a:chOff x="3581399" y="1573015"/>
            <a:chExt cx="1905001" cy="1600715"/>
          </a:xfrm>
        </p:grpSpPr>
        <p:sp>
          <p:nvSpPr>
            <p:cNvPr id="40" name="Rectangle 39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384351" y="1664605"/>
            <a:ext cx="1676400" cy="2590800"/>
            <a:chOff x="762000" y="1524000"/>
            <a:chExt cx="1676400" cy="2590800"/>
          </a:xfrm>
        </p:grpSpPr>
        <p:sp>
          <p:nvSpPr>
            <p:cNvPr id="4" name="Rectangle 3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2480427" y="2296867"/>
            <a:ext cx="1676400" cy="1958538"/>
            <a:chOff x="2758440" y="3076376"/>
            <a:chExt cx="1676400" cy="1958538"/>
          </a:xfrm>
        </p:grpSpPr>
        <p:sp>
          <p:nvSpPr>
            <p:cNvPr id="60" name="Rectangle 59"/>
            <p:cNvSpPr/>
            <p:nvPr/>
          </p:nvSpPr>
          <p:spPr>
            <a:xfrm>
              <a:off x="2758440" y="3076376"/>
              <a:ext cx="1676400" cy="19585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758440" y="3082092"/>
              <a:ext cx="1676400" cy="35222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758440" y="3434322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758440" y="383398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758440" y="423403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2758440" y="4634472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053840" y="3077330"/>
              <a:ext cx="381000" cy="19575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758440" y="3076376"/>
              <a:ext cx="381000" cy="3579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130040" y="3533843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130040" y="3934188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130040" y="4734680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130040" y="4334237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130040" y="315277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2834640" y="3148209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304800" y="4518680"/>
            <a:ext cx="1835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ObjectType</a:t>
            </a:r>
            <a:endParaRPr lang="en-US" sz="2800" dirty="0"/>
          </a:p>
        </p:txBody>
      </p:sp>
      <p:sp>
        <p:nvSpPr>
          <p:cNvPr id="106" name="TextBox 105"/>
          <p:cNvSpPr txBox="1"/>
          <p:nvPr/>
        </p:nvSpPr>
        <p:spPr>
          <a:xfrm>
            <a:off x="2544184" y="4518680"/>
            <a:ext cx="1548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DataType</a:t>
            </a:r>
            <a:endParaRPr lang="en-US" sz="2800" dirty="0"/>
          </a:p>
        </p:txBody>
      </p:sp>
      <p:sp>
        <p:nvSpPr>
          <p:cNvPr id="107" name="TextBox 106"/>
          <p:cNvSpPr txBox="1"/>
          <p:nvPr/>
        </p:nvSpPr>
        <p:spPr>
          <a:xfrm>
            <a:off x="7410864" y="4495800"/>
            <a:ext cx="9516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Table</a:t>
            </a:r>
            <a:endParaRPr lang="en-US" sz="2800" dirty="0"/>
          </a:p>
        </p:txBody>
      </p:sp>
      <p:sp>
        <p:nvSpPr>
          <p:cNvPr id="113" name="TextBox 112"/>
          <p:cNvSpPr txBox="1"/>
          <p:nvPr/>
        </p:nvSpPr>
        <p:spPr>
          <a:xfrm>
            <a:off x="4427222" y="2755545"/>
            <a:ext cx="21718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PrimitiveType</a:t>
            </a:r>
            <a:endParaRPr lang="en-US" sz="2800" dirty="0"/>
          </a:p>
        </p:txBody>
      </p:sp>
      <p:grpSp>
        <p:nvGrpSpPr>
          <p:cNvPr id="114" name="Group 113"/>
          <p:cNvGrpSpPr/>
          <p:nvPr/>
        </p:nvGrpSpPr>
        <p:grpSpPr>
          <a:xfrm>
            <a:off x="4561144" y="1788430"/>
            <a:ext cx="1938020" cy="762000"/>
            <a:chOff x="3624580" y="5257800"/>
            <a:chExt cx="2212340" cy="762000"/>
          </a:xfrm>
        </p:grpSpPr>
        <p:sp>
          <p:nvSpPr>
            <p:cNvPr id="115" name="Rectangle 114"/>
            <p:cNvSpPr/>
            <p:nvPr/>
          </p:nvSpPr>
          <p:spPr>
            <a:xfrm>
              <a:off x="3624580" y="5257800"/>
              <a:ext cx="2212340" cy="76200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3627118" y="5257800"/>
              <a:ext cx="2209801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3718396" y="5357812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3710940" y="5699760"/>
              <a:ext cx="2057400" cy="266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4561144" y="3493405"/>
            <a:ext cx="1938020" cy="762000"/>
            <a:chOff x="4576503" y="3493405"/>
            <a:chExt cx="1938020" cy="762000"/>
          </a:xfrm>
        </p:grpSpPr>
        <p:grpSp>
          <p:nvGrpSpPr>
            <p:cNvPr id="112" name="Group 111"/>
            <p:cNvGrpSpPr/>
            <p:nvPr/>
          </p:nvGrpSpPr>
          <p:grpSpPr>
            <a:xfrm>
              <a:off x="4576503" y="3493405"/>
              <a:ext cx="1938020" cy="762000"/>
              <a:chOff x="3624580" y="5257800"/>
              <a:chExt cx="2212340" cy="762000"/>
            </a:xfrm>
          </p:grpSpPr>
          <p:sp>
            <p:nvSpPr>
              <p:cNvPr id="108" name="Rectangle 107"/>
              <p:cNvSpPr/>
              <p:nvPr/>
            </p:nvSpPr>
            <p:spPr>
              <a:xfrm>
                <a:off x="3624580" y="5257800"/>
                <a:ext cx="2212340" cy="762000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 108"/>
              <p:cNvSpPr/>
              <p:nvPr/>
            </p:nvSpPr>
            <p:spPr>
              <a:xfrm>
                <a:off x="3627118" y="5257800"/>
                <a:ext cx="2209801" cy="381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3718396" y="5357812"/>
                <a:ext cx="228600" cy="200025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3710940" y="5699760"/>
                <a:ext cx="2057400" cy="2667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9" name="Isosceles Triangle 118"/>
            <p:cNvSpPr/>
            <p:nvPr/>
          </p:nvSpPr>
          <p:spPr>
            <a:xfrm flipV="1">
              <a:off x="6096000" y="3984047"/>
              <a:ext cx="277091" cy="197297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1" name="TextBox 120"/>
          <p:cNvSpPr txBox="1"/>
          <p:nvPr/>
        </p:nvSpPr>
        <p:spPr>
          <a:xfrm>
            <a:off x="4495800" y="4518680"/>
            <a:ext cx="2068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Enumeration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49387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Instance of ObjectType, </a:t>
            </a:r>
            <a:br>
              <a:rPr lang="en-US" dirty="0" smtClean="0"/>
            </a:br>
            <a:r>
              <a:rPr lang="en-US" dirty="0" smtClean="0"/>
              <a:t>i.e. </a:t>
            </a:r>
            <a:r>
              <a:rPr lang="en-US" i="1" dirty="0" smtClean="0"/>
              <a:t>Object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3400" y="1600200"/>
            <a:ext cx="4343400" cy="45259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Header indicates </a:t>
            </a:r>
            <a:r>
              <a:rPr lang="en-US" dirty="0" err="1" smtClean="0"/>
              <a:t>vo-dml</a:t>
            </a:r>
            <a:r>
              <a:rPr lang="en-US" dirty="0" smtClean="0"/>
              <a:t> “meta-type” and utype</a:t>
            </a:r>
          </a:p>
          <a:p>
            <a:r>
              <a:rPr lang="en-US" dirty="0" smtClean="0"/>
              <a:t>Rows contain name, data type, multiplicity of VO-DML role, possibly inherited from base class</a:t>
            </a:r>
          </a:p>
          <a:p>
            <a:r>
              <a:rPr lang="en-US" dirty="0" smtClean="0"/>
              <a:t>Connectors explained later</a:t>
            </a:r>
            <a:endParaRPr lang="en-US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09" y="1219200"/>
            <a:ext cx="3842091" cy="554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2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Similar for Instance of Value Types</a:t>
            </a:r>
            <a:br>
              <a:rPr lang="en-US" dirty="0" smtClean="0"/>
            </a:br>
            <a:r>
              <a:rPr lang="en-US" dirty="0" smtClean="0"/>
              <a:t>i.e. </a:t>
            </a:r>
            <a:r>
              <a:rPr lang="en-US" i="1" dirty="0" smtClean="0"/>
              <a:t>Values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638800"/>
            <a:ext cx="8229600" cy="868363"/>
          </a:xfrm>
        </p:spPr>
        <p:txBody>
          <a:bodyPr/>
          <a:lstStyle/>
          <a:p>
            <a:r>
              <a:rPr lang="en-US" dirty="0" smtClean="0"/>
              <a:t>From now on only schematic, no labels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733800"/>
            <a:ext cx="3166018" cy="14858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514600"/>
            <a:ext cx="3155132" cy="10064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24000"/>
            <a:ext cx="3166018" cy="763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1613128"/>
            <a:ext cx="2462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PrimitiveType</a:t>
            </a:r>
            <a:endParaRPr lang="en-US" sz="3200" dirty="0"/>
          </a:p>
        </p:txBody>
      </p:sp>
      <p:sp>
        <p:nvSpPr>
          <p:cNvPr id="12" name="TextBox 11"/>
          <p:cNvSpPr txBox="1"/>
          <p:nvPr/>
        </p:nvSpPr>
        <p:spPr>
          <a:xfrm>
            <a:off x="4713514" y="2725450"/>
            <a:ext cx="23429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Enumeration</a:t>
            </a:r>
            <a:endParaRPr lang="en-US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0" y="4184340"/>
            <a:ext cx="17490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DataType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80843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9067800" cy="563562"/>
          </a:xfrm>
        </p:spPr>
        <p:txBody>
          <a:bodyPr/>
          <a:lstStyle/>
          <a:p>
            <a:r>
              <a:rPr lang="en-US" sz="3200" dirty="0" smtClean="0"/>
              <a:t>Connectors used in visual mapping</a:t>
            </a:r>
            <a:endParaRPr lang="en-US" sz="3200" dirty="0"/>
          </a:p>
        </p:txBody>
      </p:sp>
      <p:sp>
        <p:nvSpPr>
          <p:cNvPr id="28" name="Content Placeholder 27"/>
          <p:cNvSpPr>
            <a:spLocks noGrp="1"/>
          </p:cNvSpPr>
          <p:nvPr>
            <p:ph idx="1"/>
          </p:nvPr>
        </p:nvSpPr>
        <p:spPr>
          <a:xfrm>
            <a:off x="2209800" y="1143000"/>
            <a:ext cx="7086600" cy="5486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On roles, outgoing, on right</a:t>
            </a:r>
          </a:p>
          <a:p>
            <a:r>
              <a:rPr lang="en-US" sz="2600" dirty="0" smtClean="0"/>
              <a:t>   Attribute </a:t>
            </a:r>
            <a:r>
              <a:rPr lang="en-US" sz="2600" dirty="0"/>
              <a:t>of PrimitiveType or </a:t>
            </a:r>
            <a:r>
              <a:rPr lang="en-US" sz="2600" dirty="0" smtClean="0"/>
              <a:t>Enumeration</a:t>
            </a:r>
            <a:br>
              <a:rPr lang="en-US" sz="2600" dirty="0" smtClean="0"/>
            </a:br>
            <a:r>
              <a:rPr lang="en-US" sz="2600" dirty="0" smtClean="0"/>
              <a:t>or (in header) link to TABLE</a:t>
            </a:r>
          </a:p>
          <a:p>
            <a:r>
              <a:rPr lang="en-US" sz="2600" dirty="0" smtClean="0"/>
              <a:t>   Attribute of (structured) DataType</a:t>
            </a:r>
          </a:p>
          <a:p>
            <a:r>
              <a:rPr lang="en-US" sz="2600" dirty="0" smtClean="0"/>
              <a:t>   </a:t>
            </a:r>
            <a:r>
              <a:rPr lang="en-US" sz="2600" dirty="0"/>
              <a:t>Attribute of DataType that MAY be mapped </a:t>
            </a:r>
            <a:r>
              <a:rPr lang="en-US" sz="2600" dirty="0" err="1" smtClean="0"/>
              <a:t>dirctly</a:t>
            </a:r>
            <a:r>
              <a:rPr lang="en-US" sz="2600" dirty="0" smtClean="0"/>
              <a:t> to FIELD/PARAM</a:t>
            </a:r>
          </a:p>
          <a:p>
            <a:pPr lvl="1"/>
            <a:r>
              <a:rPr lang="en-US" sz="2100" dirty="0" smtClean="0"/>
              <a:t>e.g. from </a:t>
            </a:r>
            <a:r>
              <a:rPr lang="en-US" sz="2100" dirty="0" err="1" smtClean="0"/>
              <a:t>ivoa</a:t>
            </a:r>
            <a:r>
              <a:rPr lang="en-US" sz="2100" dirty="0" smtClean="0"/>
              <a:t>:/quantity/***</a:t>
            </a:r>
          </a:p>
          <a:p>
            <a:r>
              <a:rPr lang="en-US" sz="2600" dirty="0" smtClean="0"/>
              <a:t>   Reference</a:t>
            </a:r>
          </a:p>
          <a:p>
            <a:r>
              <a:rPr lang="en-US" sz="2600" dirty="0"/>
              <a:t> </a:t>
            </a:r>
            <a:r>
              <a:rPr lang="en-US" sz="2600" dirty="0" smtClean="0"/>
              <a:t>  Collection</a:t>
            </a:r>
            <a:endParaRPr lang="en-US" sz="2600" dirty="0"/>
          </a:p>
          <a:p>
            <a:pPr marL="0" indent="0">
              <a:buNone/>
            </a:pPr>
            <a:r>
              <a:rPr lang="en-US" dirty="0" smtClean="0"/>
              <a:t>In Header</a:t>
            </a:r>
          </a:p>
          <a:p>
            <a:r>
              <a:rPr lang="en-US" sz="2600" dirty="0" smtClean="0"/>
              <a:t>   Outgoing: explicit connection instance </a:t>
            </a:r>
            <a:r>
              <a:rPr lang="en-US" sz="2600" dirty="0" smtClean="0">
                <a:sym typeface="Symbol"/>
              </a:rPr>
              <a:t> table</a:t>
            </a:r>
          </a:p>
          <a:p>
            <a:r>
              <a:rPr lang="en-US" sz="2600" dirty="0" smtClean="0">
                <a:sym typeface="Symbol"/>
              </a:rPr>
              <a:t>   Incoming reference</a:t>
            </a:r>
          </a:p>
          <a:p>
            <a:r>
              <a:rPr lang="en-US" sz="2600" dirty="0" smtClean="0">
                <a:sym typeface="Symbol"/>
              </a:rPr>
              <a:t>   Incoming Collection</a:t>
            </a:r>
          </a:p>
          <a:p>
            <a:r>
              <a:rPr lang="en-US" sz="2600" dirty="0">
                <a:sym typeface="Symbol"/>
              </a:rPr>
              <a:t> </a:t>
            </a:r>
            <a:r>
              <a:rPr lang="en-US" sz="2600" dirty="0" smtClean="0">
                <a:sym typeface="Symbol"/>
              </a:rPr>
              <a:t>  Incoming Attribute link</a:t>
            </a:r>
          </a:p>
          <a:p>
            <a:endParaRPr lang="en-US" sz="2400" dirty="0" smtClean="0"/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2476031" y="1622815"/>
            <a:ext cx="287828" cy="2343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482030" y="2301253"/>
            <a:ext cx="287828" cy="2343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2482030" y="2673250"/>
            <a:ext cx="287828" cy="234358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FF0000"/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482030" y="3622546"/>
            <a:ext cx="287828" cy="23435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482030" y="3954035"/>
            <a:ext cx="287828" cy="234358"/>
          </a:xfrm>
          <a:prstGeom prst="rect">
            <a:avLst/>
          </a:prstGeom>
          <a:solidFill>
            <a:srgbClr val="0C12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345810" y="4182677"/>
            <a:ext cx="1676400" cy="1958538"/>
            <a:chOff x="2758440" y="3076376"/>
            <a:chExt cx="1676400" cy="1958538"/>
          </a:xfrm>
        </p:grpSpPr>
        <p:sp>
          <p:nvSpPr>
            <p:cNvPr id="37" name="Rectangle 36"/>
            <p:cNvSpPr/>
            <p:nvPr/>
          </p:nvSpPr>
          <p:spPr>
            <a:xfrm>
              <a:off x="2758440" y="3076376"/>
              <a:ext cx="1676400" cy="19585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58440" y="3082092"/>
              <a:ext cx="1676400" cy="35222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758440" y="3434322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758440" y="383398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758440" y="423403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758440" y="4634472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053840" y="3077330"/>
              <a:ext cx="381000" cy="19575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758440" y="3076376"/>
              <a:ext cx="381000" cy="3579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130040" y="3533843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130040" y="3934188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130040" y="4734680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130040" y="4334237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130040" y="315277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834640" y="3148209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65049" y="1148925"/>
            <a:ext cx="1676400" cy="2590800"/>
            <a:chOff x="762000" y="1524000"/>
            <a:chExt cx="1676400" cy="2590800"/>
          </a:xfrm>
        </p:grpSpPr>
        <p:sp>
          <p:nvSpPr>
            <p:cNvPr id="52" name="Rectangle 51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8" name="Rectangle 67"/>
          <p:cNvSpPr/>
          <p:nvPr/>
        </p:nvSpPr>
        <p:spPr>
          <a:xfrm>
            <a:off x="2483230" y="5142265"/>
            <a:ext cx="287828" cy="23435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2482030" y="5506415"/>
            <a:ext cx="287828" cy="234358"/>
          </a:xfrm>
          <a:prstGeom prst="rect">
            <a:avLst/>
          </a:prstGeom>
          <a:solidFill>
            <a:srgbClr val="0C12F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2483230" y="4786953"/>
            <a:ext cx="287828" cy="23435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2486915" y="5893731"/>
            <a:ext cx="287828" cy="2343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66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9400" y="1600200"/>
            <a:ext cx="58674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Grey: header with incoming connector to indicate an object is stored in each row</a:t>
            </a:r>
          </a:p>
          <a:p>
            <a:r>
              <a:rPr lang="en-US" dirty="0" smtClean="0"/>
              <a:t>White: column (FIELD) with incoming connector for (simple) attributes</a:t>
            </a:r>
          </a:p>
          <a:p>
            <a:r>
              <a:rPr lang="en-US" dirty="0" smtClean="0"/>
              <a:t>Yellow: PARAM with incoming connector for (simple) attributes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24678" y="2374853"/>
            <a:ext cx="1905001" cy="1600715"/>
            <a:chOff x="3581399" y="1573015"/>
            <a:chExt cx="1905001" cy="1600715"/>
          </a:xfrm>
        </p:grpSpPr>
        <p:sp>
          <p:nvSpPr>
            <p:cNvPr id="5" name="Rectangle 4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Rectangle 6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9847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 mapping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Link outgoing to </a:t>
            </a:r>
            <a:r>
              <a:rPr lang="en-US" i="1" dirty="0" smtClean="0"/>
              <a:t>compatible</a:t>
            </a:r>
            <a:r>
              <a:rPr lang="en-US" dirty="0" smtClean="0"/>
              <a:t> incoming connectors:</a:t>
            </a:r>
          </a:p>
          <a:p>
            <a:pPr lvl="1"/>
            <a:r>
              <a:rPr lang="en-US" dirty="0" smtClean="0"/>
              <a:t>right color (note “gradient black-red”)</a:t>
            </a:r>
          </a:p>
          <a:p>
            <a:pPr lvl="1"/>
            <a:r>
              <a:rPr lang="en-US" dirty="0" smtClean="0"/>
              <a:t>structured VO-DML type </a:t>
            </a:r>
            <a:r>
              <a:rPr lang="en-US" dirty="0">
                <a:sym typeface="Symbol"/>
              </a:rPr>
              <a:t></a:t>
            </a:r>
            <a:r>
              <a:rPr lang="en-US" dirty="0" smtClean="0"/>
              <a:t> TABLE</a:t>
            </a:r>
          </a:p>
          <a:p>
            <a:pPr lvl="1"/>
            <a:r>
              <a:rPr lang="en-US" dirty="0" smtClean="0"/>
              <a:t>VO-DML Attribute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</a:t>
            </a:r>
            <a:r>
              <a:rPr lang="en-US" dirty="0" smtClean="0"/>
              <a:t>FIELD or PARAM</a:t>
            </a:r>
          </a:p>
          <a:p>
            <a:pPr lvl="1"/>
            <a:r>
              <a:rPr lang="en-US" dirty="0" smtClean="0"/>
              <a:t>VO-DML Attribute </a:t>
            </a:r>
            <a:r>
              <a:rPr lang="en-US" dirty="0" smtClean="0">
                <a:sym typeface="Symbol"/>
              </a:rPr>
              <a:t> VO-DML DataType</a:t>
            </a:r>
          </a:p>
          <a:p>
            <a:pPr lvl="1"/>
            <a:r>
              <a:rPr lang="en-US" dirty="0" smtClean="0"/>
              <a:t>VO-DML </a:t>
            </a:r>
            <a:r>
              <a:rPr lang="en-US" dirty="0"/>
              <a:t>Attribute </a:t>
            </a:r>
            <a:r>
              <a:rPr lang="en-US" dirty="0">
                <a:sym typeface="Symbol"/>
              </a:rPr>
              <a:t> VO-DML </a:t>
            </a:r>
            <a:r>
              <a:rPr lang="en-US" dirty="0" smtClean="0">
                <a:sym typeface="Symbol"/>
              </a:rPr>
              <a:t>PrimitiveType or Enumeration (constant value)</a:t>
            </a:r>
            <a:endParaRPr lang="en-US" dirty="0">
              <a:sym typeface="Symbol"/>
            </a:endParaRPr>
          </a:p>
          <a:p>
            <a:pPr lvl="1"/>
            <a:r>
              <a:rPr lang="en-US" dirty="0" smtClean="0">
                <a:sym typeface="Symbol"/>
              </a:rPr>
              <a:t>VO-DML Reference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</a:t>
            </a:r>
            <a:r>
              <a:rPr lang="en-US" dirty="0" smtClean="0"/>
              <a:t>VO-DML ObjectType (or </a:t>
            </a:r>
            <a:r>
              <a:rPr lang="en-US" dirty="0" err="1" smtClean="0"/>
              <a:t>vo-dml:Reference</a:t>
            </a:r>
            <a:r>
              <a:rPr lang="en-US" dirty="0" smtClean="0"/>
              <a:t> for ORM)</a:t>
            </a:r>
          </a:p>
          <a:p>
            <a:pPr lvl="1"/>
            <a:r>
              <a:rPr lang="en-US" dirty="0" smtClean="0"/>
              <a:t>VO-DML Collection </a:t>
            </a:r>
            <a:r>
              <a:rPr lang="en-US" dirty="0">
                <a:sym typeface="Symbol"/>
              </a:rPr>
              <a:t></a:t>
            </a:r>
            <a:r>
              <a:rPr lang="en-US" dirty="0"/>
              <a:t> </a:t>
            </a:r>
            <a:r>
              <a:rPr lang="en-US" dirty="0" smtClean="0"/>
              <a:t>VO-DML ObjectType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38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Mapping annotates serialized objects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Objects can be serialized</a:t>
            </a:r>
          </a:p>
          <a:p>
            <a:r>
              <a:rPr lang="en-US" dirty="0" smtClean="0"/>
              <a:t>in row in TABLE</a:t>
            </a:r>
          </a:p>
          <a:p>
            <a:r>
              <a:rPr lang="en-US" dirty="0" smtClean="0"/>
              <a:t>in GROUP</a:t>
            </a:r>
          </a:p>
          <a:p>
            <a:r>
              <a:rPr lang="en-US" dirty="0"/>
              <a:t>M</a:t>
            </a:r>
            <a:r>
              <a:rPr lang="en-US" dirty="0" smtClean="0"/>
              <a:t>ixture: Object in GROUP+TABLE</a:t>
            </a:r>
          </a:p>
          <a:p>
            <a:pPr lvl="1"/>
            <a:r>
              <a:rPr lang="en-US" dirty="0" smtClean="0"/>
              <a:t>possible even if NO FIELDref-s!</a:t>
            </a:r>
          </a:p>
          <a:p>
            <a:pPr lvl="1"/>
            <a:r>
              <a:rPr lang="en-US" dirty="0" smtClean="0"/>
              <a:t>GROUP in TABLE always implies object in TR? Even if no FIELDref?</a:t>
            </a:r>
          </a:p>
          <a:p>
            <a:pPr lvl="1"/>
            <a:r>
              <a:rPr lang="en-US" dirty="0" smtClean="0"/>
              <a:t>Other GROUP in separate mapping RESOURCE (with utype indicating root collection of objects)</a:t>
            </a:r>
          </a:p>
          <a:p>
            <a:r>
              <a:rPr lang="en-US" dirty="0" smtClean="0"/>
              <a:t>?? Object in multiple tables?</a:t>
            </a:r>
          </a:p>
          <a:p>
            <a:pPr lvl="1"/>
            <a:r>
              <a:rPr lang="en-US" dirty="0" smtClean="0"/>
              <a:t>inheritance mapping (standard Object-Relational Mapping pattern)</a:t>
            </a:r>
          </a:p>
          <a:p>
            <a:pPr lvl="1"/>
            <a:r>
              <a:rPr lang="en-US" dirty="0" smtClean="0"/>
              <a:t>legacy mapping (objects happens to be stored in different tables)</a:t>
            </a:r>
          </a:p>
          <a:p>
            <a:pPr lvl="1"/>
            <a:endParaRPr lang="en-US" dirty="0"/>
          </a:p>
          <a:p>
            <a:r>
              <a:rPr lang="en-US" dirty="0" smtClean="0"/>
              <a:t>Following slides show various patterns, with [</a:t>
            </a:r>
            <a:r>
              <a:rPr lang="en-US" dirty="0" smtClean="0">
                <a:solidFill>
                  <a:srgbClr val="FF0000"/>
                </a:solidFill>
              </a:rPr>
              <a:t>TBD</a:t>
            </a:r>
            <a:r>
              <a:rPr lang="en-US" dirty="0" smtClean="0"/>
              <a:t>!!] indication how to represent them using UTYPE-s and GROUPS </a:t>
            </a:r>
            <a:r>
              <a:rPr lang="en-US" dirty="0" err="1" smtClean="0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391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Singleton Object</a:t>
            </a:r>
            <a:endParaRPr lang="en-US" dirty="0"/>
          </a:p>
        </p:txBody>
      </p:sp>
      <p:sp>
        <p:nvSpPr>
          <p:cNvPr id="59" name="Content Placeholder 58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US" dirty="0" smtClean="0"/>
              <a:t>No </a:t>
            </a:r>
            <a:r>
              <a:rPr lang="en-US" dirty="0"/>
              <a:t>link to </a:t>
            </a:r>
            <a:r>
              <a:rPr lang="en-US" dirty="0" smtClean="0"/>
              <a:t>TABLE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76833" y="2520269"/>
            <a:ext cx="1676400" cy="2590800"/>
            <a:chOff x="762000" y="1524000"/>
            <a:chExt cx="1676400" cy="2590800"/>
          </a:xfrm>
        </p:grpSpPr>
        <p:sp>
          <p:nvSpPr>
            <p:cNvPr id="4" name="Rectangle 3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306070" y="4289862"/>
            <a:ext cx="1676400" cy="1958538"/>
            <a:chOff x="2758440" y="3076376"/>
            <a:chExt cx="1676400" cy="1958538"/>
          </a:xfrm>
        </p:grpSpPr>
        <p:sp>
          <p:nvSpPr>
            <p:cNvPr id="21" name="Rectangle 20"/>
            <p:cNvSpPr/>
            <p:nvPr/>
          </p:nvSpPr>
          <p:spPr>
            <a:xfrm>
              <a:off x="2758440" y="3076376"/>
              <a:ext cx="1676400" cy="19585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758440" y="3082092"/>
              <a:ext cx="1676400" cy="35222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758440" y="3434322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758440" y="383398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758440" y="423403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758440" y="4634472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053840" y="3077330"/>
              <a:ext cx="381000" cy="19575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758440" y="3076376"/>
              <a:ext cx="381000" cy="3579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130040" y="3533843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130040" y="3934188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130040" y="4734680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130040" y="4334237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4130040" y="315277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834640" y="3148209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730877" y="3010610"/>
            <a:ext cx="1938020" cy="762000"/>
            <a:chOff x="3624580" y="5257800"/>
            <a:chExt cx="2212340" cy="762000"/>
          </a:xfrm>
        </p:grpSpPr>
        <p:sp>
          <p:nvSpPr>
            <p:cNvPr id="36" name="Rectangle 35"/>
            <p:cNvSpPr/>
            <p:nvPr/>
          </p:nvSpPr>
          <p:spPr>
            <a:xfrm>
              <a:off x="3624580" y="5257800"/>
              <a:ext cx="2212340" cy="76200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627118" y="5257800"/>
              <a:ext cx="2209801" cy="381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718396" y="5357812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710940" y="5699760"/>
              <a:ext cx="2057400" cy="266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HHH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7" name="Elbow Connector 46"/>
          <p:cNvCxnSpPr>
            <a:stCxn id="12" idx="3"/>
            <a:endCxn id="38" idx="1"/>
          </p:cNvCxnSpPr>
          <p:nvPr/>
        </p:nvCxnSpPr>
        <p:spPr>
          <a:xfrm flipV="1">
            <a:off x="2277033" y="3210635"/>
            <a:ext cx="2536027" cy="61618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29" idx="3"/>
            <a:endCxn id="45" idx="1"/>
          </p:cNvCxnSpPr>
          <p:nvPr/>
        </p:nvCxnSpPr>
        <p:spPr>
          <a:xfrm>
            <a:off x="4906270" y="4847342"/>
            <a:ext cx="1302825" cy="77302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13" idx="3"/>
            <a:endCxn id="34" idx="1"/>
          </p:cNvCxnSpPr>
          <p:nvPr/>
        </p:nvCxnSpPr>
        <p:spPr>
          <a:xfrm>
            <a:off x="2277033" y="3672598"/>
            <a:ext cx="1105237" cy="789110"/>
          </a:xfrm>
          <a:prstGeom prst="bentConnector3">
            <a:avLst/>
          </a:prstGeom>
          <a:ln w="444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126912" y="4724619"/>
            <a:ext cx="1938020" cy="762000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6129135" y="4724619"/>
            <a:ext cx="1935796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6209095" y="4824631"/>
            <a:ext cx="200255" cy="200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6202564" y="5166579"/>
            <a:ext cx="1802292" cy="266700"/>
            <a:chOff x="6202564" y="5166579"/>
            <a:chExt cx="1802292" cy="266700"/>
          </a:xfrm>
        </p:grpSpPr>
        <p:sp>
          <p:nvSpPr>
            <p:cNvPr id="46" name="Rectangle 45"/>
            <p:cNvSpPr/>
            <p:nvPr/>
          </p:nvSpPr>
          <p:spPr>
            <a:xfrm>
              <a:off x="6202564" y="5166579"/>
              <a:ext cx="1802292" cy="266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BBB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Isosceles Triangle 41"/>
            <p:cNvSpPr/>
            <p:nvPr/>
          </p:nvSpPr>
          <p:spPr>
            <a:xfrm flipV="1">
              <a:off x="7646409" y="5215261"/>
              <a:ext cx="277091" cy="197297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4202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UTYPE annotation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“GROUP-as-Instance”, “Singleton-GROUP”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GROUP utype=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05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4908" y="228600"/>
            <a:ext cx="8229600" cy="563562"/>
          </a:xfrm>
        </p:spPr>
        <p:txBody>
          <a:bodyPr/>
          <a:lstStyle/>
          <a:p>
            <a:r>
              <a:rPr lang="en-US" dirty="0" smtClean="0"/>
              <a:t>Objects in TABLE</a:t>
            </a:r>
            <a:endParaRPr lang="en-US" dirty="0"/>
          </a:p>
        </p:txBody>
      </p:sp>
      <p:grpSp>
        <p:nvGrpSpPr>
          <p:cNvPr id="41" name="Group 40"/>
          <p:cNvGrpSpPr/>
          <p:nvPr/>
        </p:nvGrpSpPr>
        <p:grpSpPr>
          <a:xfrm>
            <a:off x="6291090" y="1533686"/>
            <a:ext cx="1905001" cy="1600715"/>
            <a:chOff x="3581399" y="1573015"/>
            <a:chExt cx="1905001" cy="1600715"/>
          </a:xfrm>
        </p:grpSpPr>
        <p:sp>
          <p:nvSpPr>
            <p:cNvPr id="40" name="Rectangle 39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1158240" y="1130103"/>
            <a:ext cx="1676400" cy="2590800"/>
            <a:chOff x="762000" y="1524000"/>
            <a:chExt cx="1676400" cy="2590800"/>
          </a:xfrm>
        </p:grpSpPr>
        <p:sp>
          <p:nvSpPr>
            <p:cNvPr id="4" name="Rectangle 3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1165860" y="3930156"/>
            <a:ext cx="1676400" cy="2590800"/>
            <a:chOff x="762000" y="1524000"/>
            <a:chExt cx="1676400" cy="2590800"/>
          </a:xfrm>
        </p:grpSpPr>
        <p:sp>
          <p:nvSpPr>
            <p:cNvPr id="80" name="Rectangle 79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2" name="Elbow Connector 101"/>
          <p:cNvCxnSpPr>
            <a:stCxn id="36" idx="3"/>
            <a:endCxn id="26" idx="1"/>
          </p:cNvCxnSpPr>
          <p:nvPr/>
        </p:nvCxnSpPr>
        <p:spPr>
          <a:xfrm>
            <a:off x="2758440" y="1306316"/>
            <a:ext cx="3623928" cy="427395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88" idx="3"/>
            <a:endCxn id="61" idx="1"/>
          </p:cNvCxnSpPr>
          <p:nvPr/>
        </p:nvCxnSpPr>
        <p:spPr>
          <a:xfrm>
            <a:off x="2766060" y="4682140"/>
            <a:ext cx="3119629" cy="162854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0404" y="3342303"/>
            <a:ext cx="3994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Explicit, link from type to table</a:t>
            </a:r>
            <a:endParaRPr lang="en-US" sz="2400" dirty="0"/>
          </a:p>
        </p:txBody>
      </p:sp>
      <p:sp>
        <p:nvSpPr>
          <p:cNvPr id="55" name="TextBox 54"/>
          <p:cNvSpPr txBox="1"/>
          <p:nvPr/>
        </p:nvSpPr>
        <p:spPr>
          <a:xfrm>
            <a:off x="3402713" y="5982989"/>
            <a:ext cx="5423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Implicit, link from component attribute(s) </a:t>
            </a:r>
          </a:p>
          <a:p>
            <a:r>
              <a:rPr lang="en-US" sz="2400" dirty="0" smtClean="0"/>
              <a:t>to table</a:t>
            </a:r>
            <a:endParaRPr lang="en-US" sz="24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5794411" y="4240156"/>
            <a:ext cx="1905001" cy="1600715"/>
            <a:chOff x="3581399" y="1573015"/>
            <a:chExt cx="1905001" cy="1600715"/>
          </a:xfrm>
        </p:grpSpPr>
        <p:sp>
          <p:nvSpPr>
            <p:cNvPr id="54" name="Rectangle 53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" name="Group 55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62" name="Rectangle 61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7" name="Rectangle 56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1" name="Elbow Connector 70"/>
          <p:cNvCxnSpPr>
            <a:stCxn id="92" idx="3"/>
            <a:endCxn id="59" idx="1"/>
          </p:cNvCxnSpPr>
          <p:nvPr/>
        </p:nvCxnSpPr>
        <p:spPr>
          <a:xfrm>
            <a:off x="2766060" y="5482534"/>
            <a:ext cx="3119629" cy="157601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069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Objects in TABLE</a:t>
            </a:r>
            <a:endParaRPr lang="en-US" dirty="0"/>
          </a:p>
        </p:txBody>
      </p:sp>
      <p:grpSp>
        <p:nvGrpSpPr>
          <p:cNvPr id="41" name="Group 40"/>
          <p:cNvGrpSpPr/>
          <p:nvPr/>
        </p:nvGrpSpPr>
        <p:grpSpPr>
          <a:xfrm>
            <a:off x="6553199" y="2244559"/>
            <a:ext cx="1905001" cy="1600715"/>
            <a:chOff x="3581399" y="1573015"/>
            <a:chExt cx="1905001" cy="1600715"/>
          </a:xfrm>
        </p:grpSpPr>
        <p:sp>
          <p:nvSpPr>
            <p:cNvPr id="40" name="Rectangle 39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765351" y="1596641"/>
            <a:ext cx="1676400" cy="2590800"/>
            <a:chOff x="762000" y="1524000"/>
            <a:chExt cx="1676400" cy="2590800"/>
          </a:xfrm>
        </p:grpSpPr>
        <p:sp>
          <p:nvSpPr>
            <p:cNvPr id="4" name="Rectangle 3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3589019" y="2000373"/>
            <a:ext cx="1676400" cy="1958538"/>
            <a:chOff x="2758440" y="3076376"/>
            <a:chExt cx="1676400" cy="1958538"/>
          </a:xfrm>
        </p:grpSpPr>
        <p:sp>
          <p:nvSpPr>
            <p:cNvPr id="60" name="Rectangle 59"/>
            <p:cNvSpPr/>
            <p:nvPr/>
          </p:nvSpPr>
          <p:spPr>
            <a:xfrm>
              <a:off x="2758440" y="3076376"/>
              <a:ext cx="1676400" cy="195853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758440" y="3082092"/>
              <a:ext cx="1676400" cy="35222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758440" y="3434322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758440" y="383398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758440" y="423403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2758440" y="4634472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4053840" y="3077330"/>
              <a:ext cx="381000" cy="19575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758440" y="3076376"/>
              <a:ext cx="381000" cy="3579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130040" y="3533843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4130040" y="3934188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4130040" y="4734680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130040" y="4334237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130040" y="315277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2834640" y="3148209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0" name="Elbow Connector 49"/>
          <p:cNvCxnSpPr>
            <a:stCxn id="68" idx="3"/>
            <a:endCxn id="29" idx="1"/>
          </p:cNvCxnSpPr>
          <p:nvPr/>
        </p:nvCxnSpPr>
        <p:spPr>
          <a:xfrm>
            <a:off x="5189219" y="2557853"/>
            <a:ext cx="1455258" cy="291544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/>
          <p:cNvCxnSpPr>
            <a:stCxn id="32" idx="3"/>
            <a:endCxn id="76" idx="1"/>
          </p:cNvCxnSpPr>
          <p:nvPr/>
        </p:nvCxnSpPr>
        <p:spPr>
          <a:xfrm flipV="1">
            <a:off x="2365551" y="2172219"/>
            <a:ext cx="1299668" cy="576751"/>
          </a:xfrm>
          <a:prstGeom prst="bentConnector3">
            <a:avLst/>
          </a:prstGeom>
          <a:ln w="4445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85800" y="4581435"/>
            <a:ext cx="8076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Implicit and indirect, via DataType attribute, which links to table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3502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Relatively straightforward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 relations can be made using</a:t>
            </a:r>
          </a:p>
          <a:p>
            <a:pPr lvl="1"/>
            <a:r>
              <a:rPr lang="en-US" dirty="0" smtClean="0"/>
              <a:t>collections in GROUPs-as-instance</a:t>
            </a:r>
          </a:p>
          <a:p>
            <a:pPr lvl="1"/>
            <a:r>
              <a:rPr lang="en-US" dirty="0" smtClean="0"/>
              <a:t>references using “</a:t>
            </a:r>
            <a:r>
              <a:rPr lang="en-US" dirty="0" err="1" smtClean="0"/>
              <a:t>GROUPref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embedding collection </a:t>
            </a:r>
            <a:r>
              <a:rPr lang="en-US" dirty="0" err="1" smtClean="0"/>
              <a:t>elemnt</a:t>
            </a:r>
            <a:r>
              <a:rPr lang="en-US" dirty="0" smtClean="0"/>
              <a:t>(s) in same row (</a:t>
            </a:r>
            <a:r>
              <a:rPr lang="en-US" dirty="0"/>
              <a:t>flattening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shared reference to GROUPs-as-instance (</a:t>
            </a:r>
            <a:r>
              <a:rPr lang="en-US" dirty="0" err="1" smtClean="0"/>
              <a:t>GROUPref</a:t>
            </a:r>
            <a:r>
              <a:rPr lang="en-US" dirty="0" smtClean="0"/>
              <a:t>) for all elements in table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354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“object-in GROUP”</a:t>
            </a:r>
            <a:br>
              <a:rPr lang="en-US" dirty="0" smtClean="0"/>
            </a:br>
            <a:r>
              <a:rPr lang="en-US" dirty="0" smtClean="0"/>
              <a:t>refers to other “object-</a:t>
            </a:r>
            <a:r>
              <a:rPr lang="en-US" dirty="0" err="1" smtClean="0"/>
              <a:t>in-GROUP</a:t>
            </a:r>
            <a:r>
              <a:rPr lang="en-US" dirty="0" smtClean="0"/>
              <a:t>”</a:t>
            </a:r>
            <a:endParaRPr lang="en-US" dirty="0"/>
          </a:p>
        </p:txBody>
      </p:sp>
      <p:grpSp>
        <p:nvGrpSpPr>
          <p:cNvPr id="77" name="Group 76"/>
          <p:cNvGrpSpPr/>
          <p:nvPr/>
        </p:nvGrpSpPr>
        <p:grpSpPr>
          <a:xfrm>
            <a:off x="1158240" y="1905412"/>
            <a:ext cx="1676400" cy="2590800"/>
            <a:chOff x="762000" y="1524000"/>
            <a:chExt cx="1676400" cy="2590800"/>
          </a:xfrm>
        </p:grpSpPr>
        <p:sp>
          <p:nvSpPr>
            <p:cNvPr id="4" name="Rectangle 3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074920" y="3024600"/>
            <a:ext cx="1676400" cy="2590800"/>
            <a:chOff x="762000" y="1524000"/>
            <a:chExt cx="1676400" cy="2590800"/>
          </a:xfrm>
        </p:grpSpPr>
        <p:sp>
          <p:nvSpPr>
            <p:cNvPr id="80" name="Rectangle 79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9" name="Elbow Connector 98"/>
          <p:cNvCxnSpPr>
            <a:stCxn id="33" idx="3"/>
            <a:endCxn id="94" idx="1"/>
          </p:cNvCxnSpPr>
          <p:nvPr/>
        </p:nvCxnSpPr>
        <p:spPr>
          <a:xfrm flipV="1">
            <a:off x="2758440" y="3178588"/>
            <a:ext cx="2392680" cy="679645"/>
          </a:xfrm>
          <a:prstGeom prst="bentConnector3">
            <a:avLst/>
          </a:prstGeom>
          <a:ln w="444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030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objects in TABLE</a:t>
            </a:r>
            <a:br>
              <a:rPr lang="en-US" dirty="0" smtClean="0"/>
            </a:br>
            <a:r>
              <a:rPr lang="en-US" dirty="0" smtClean="0"/>
              <a:t>refer to same object in GROUP</a:t>
            </a:r>
            <a:endParaRPr lang="en-US" dirty="0"/>
          </a:p>
        </p:txBody>
      </p:sp>
      <p:grpSp>
        <p:nvGrpSpPr>
          <p:cNvPr id="41" name="Group 40"/>
          <p:cNvGrpSpPr/>
          <p:nvPr/>
        </p:nvGrpSpPr>
        <p:grpSpPr>
          <a:xfrm>
            <a:off x="6553200" y="2056885"/>
            <a:ext cx="1905001" cy="1600715"/>
            <a:chOff x="3581399" y="1573015"/>
            <a:chExt cx="1905001" cy="1600715"/>
          </a:xfrm>
        </p:grpSpPr>
        <p:sp>
          <p:nvSpPr>
            <p:cNvPr id="40" name="Rectangle 39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24840" y="2082800"/>
            <a:ext cx="1676400" cy="2590800"/>
            <a:chOff x="762000" y="1524000"/>
            <a:chExt cx="1676400" cy="2590800"/>
          </a:xfrm>
        </p:grpSpPr>
        <p:sp>
          <p:nvSpPr>
            <p:cNvPr id="4" name="Rectangle 3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3779520" y="3200400"/>
            <a:ext cx="1676400" cy="2590800"/>
            <a:chOff x="762000" y="1524000"/>
            <a:chExt cx="1676400" cy="2590800"/>
          </a:xfrm>
        </p:grpSpPr>
        <p:sp>
          <p:nvSpPr>
            <p:cNvPr id="80" name="Rectangle 79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9" name="Elbow Connector 98"/>
          <p:cNvCxnSpPr>
            <a:stCxn id="33" idx="3"/>
            <a:endCxn id="94" idx="1"/>
          </p:cNvCxnSpPr>
          <p:nvPr/>
        </p:nvCxnSpPr>
        <p:spPr>
          <a:xfrm flipV="1">
            <a:off x="2225040" y="3354388"/>
            <a:ext cx="1630680" cy="681233"/>
          </a:xfrm>
          <a:prstGeom prst="bentConnector3">
            <a:avLst/>
          </a:prstGeom>
          <a:ln w="444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/>
          <p:cNvCxnSpPr>
            <a:stCxn id="36" idx="3"/>
            <a:endCxn id="26" idx="1"/>
          </p:cNvCxnSpPr>
          <p:nvPr/>
        </p:nvCxnSpPr>
        <p:spPr>
          <a:xfrm flipV="1">
            <a:off x="2225040" y="2256910"/>
            <a:ext cx="4419438" cy="2103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659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2920" y="533400"/>
            <a:ext cx="8229600" cy="563562"/>
          </a:xfrm>
        </p:spPr>
        <p:txBody>
          <a:bodyPr/>
          <a:lstStyle/>
          <a:p>
            <a:r>
              <a:rPr lang="en-US" dirty="0" smtClean="0"/>
              <a:t>each row in TABLE contains both source and target objects of reference</a:t>
            </a:r>
            <a:br>
              <a:rPr lang="en-US" dirty="0" smtClean="0"/>
            </a:br>
            <a:r>
              <a:rPr lang="en-US" dirty="0" smtClean="0"/>
              <a:t>(using </a:t>
            </a:r>
            <a:r>
              <a:rPr lang="en-US" dirty="0" err="1" smtClean="0"/>
              <a:t>GROUPref</a:t>
            </a:r>
            <a:r>
              <a:rPr lang="en-US" dirty="0" smtClean="0"/>
              <a:t>, NO FK)</a:t>
            </a:r>
            <a:endParaRPr lang="en-US" dirty="0"/>
          </a:p>
        </p:txBody>
      </p:sp>
      <p:grpSp>
        <p:nvGrpSpPr>
          <p:cNvPr id="41" name="Group 40"/>
          <p:cNvGrpSpPr/>
          <p:nvPr/>
        </p:nvGrpSpPr>
        <p:grpSpPr>
          <a:xfrm>
            <a:off x="6553200" y="2153722"/>
            <a:ext cx="1905001" cy="1600715"/>
            <a:chOff x="3581399" y="1573015"/>
            <a:chExt cx="1905001" cy="1600715"/>
          </a:xfrm>
        </p:grpSpPr>
        <p:sp>
          <p:nvSpPr>
            <p:cNvPr id="40" name="Rectangle 39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24840" y="2061380"/>
            <a:ext cx="1676400" cy="2590800"/>
            <a:chOff x="762000" y="1524000"/>
            <a:chExt cx="1676400" cy="2590800"/>
          </a:xfrm>
        </p:grpSpPr>
        <p:sp>
          <p:nvSpPr>
            <p:cNvPr id="4" name="Rectangle 3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3779520" y="3200400"/>
            <a:ext cx="1676400" cy="2590800"/>
            <a:chOff x="762000" y="1524000"/>
            <a:chExt cx="1676400" cy="2590800"/>
          </a:xfrm>
        </p:grpSpPr>
        <p:sp>
          <p:nvSpPr>
            <p:cNvPr id="80" name="Rectangle 79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9" name="Elbow Connector 98"/>
          <p:cNvCxnSpPr>
            <a:stCxn id="33" idx="3"/>
            <a:endCxn id="94" idx="1"/>
          </p:cNvCxnSpPr>
          <p:nvPr/>
        </p:nvCxnSpPr>
        <p:spPr>
          <a:xfrm flipV="1">
            <a:off x="2225040" y="3354388"/>
            <a:ext cx="1630680" cy="659813"/>
          </a:xfrm>
          <a:prstGeom prst="bentConnector3">
            <a:avLst/>
          </a:prstGeom>
          <a:ln w="444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/>
          <p:cNvCxnSpPr>
            <a:stCxn id="31" idx="3"/>
            <a:endCxn id="29" idx="1"/>
          </p:cNvCxnSpPr>
          <p:nvPr/>
        </p:nvCxnSpPr>
        <p:spPr>
          <a:xfrm flipV="1">
            <a:off x="2225040" y="2758560"/>
            <a:ext cx="4419438" cy="54804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88" idx="3"/>
            <a:endCxn id="28" idx="1"/>
          </p:cNvCxnSpPr>
          <p:nvPr/>
        </p:nvCxnSpPr>
        <p:spPr>
          <a:xfrm flipV="1">
            <a:off x="5379720" y="3154435"/>
            <a:ext cx="1264758" cy="797949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978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2920" y="609600"/>
            <a:ext cx="8229600" cy="563562"/>
          </a:xfrm>
        </p:spPr>
        <p:txBody>
          <a:bodyPr/>
          <a:lstStyle/>
          <a:p>
            <a:r>
              <a:rPr lang="en-US" dirty="0" smtClean="0"/>
              <a:t>object in GROUP contains another object in GROUP</a:t>
            </a:r>
            <a:endParaRPr lang="en-US" dirty="0"/>
          </a:p>
        </p:txBody>
      </p:sp>
      <p:grpSp>
        <p:nvGrpSpPr>
          <p:cNvPr id="77" name="Group 76"/>
          <p:cNvGrpSpPr/>
          <p:nvPr/>
        </p:nvGrpSpPr>
        <p:grpSpPr>
          <a:xfrm>
            <a:off x="1463040" y="2257425"/>
            <a:ext cx="1676400" cy="2590800"/>
            <a:chOff x="762000" y="1524000"/>
            <a:chExt cx="1676400" cy="2590800"/>
          </a:xfrm>
        </p:grpSpPr>
        <p:sp>
          <p:nvSpPr>
            <p:cNvPr id="4" name="Rectangle 3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265420" y="2409825"/>
            <a:ext cx="1676400" cy="2590800"/>
            <a:chOff x="762000" y="1524000"/>
            <a:chExt cx="1676400" cy="2590800"/>
          </a:xfrm>
        </p:grpSpPr>
        <p:sp>
          <p:nvSpPr>
            <p:cNvPr id="80" name="Rectangle 79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9" name="Elbow Connector 98"/>
          <p:cNvCxnSpPr>
            <a:stCxn id="34" idx="3"/>
            <a:endCxn id="95" idx="1"/>
          </p:cNvCxnSpPr>
          <p:nvPr/>
        </p:nvCxnSpPr>
        <p:spPr>
          <a:xfrm flipV="1">
            <a:off x="3063240" y="2814638"/>
            <a:ext cx="2278380" cy="1828800"/>
          </a:xfrm>
          <a:prstGeom prst="bentConnector3">
            <a:avLst/>
          </a:prstGeom>
          <a:ln w="44450">
            <a:solidFill>
              <a:srgbClr val="0C12FA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53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2920" y="609600"/>
            <a:ext cx="8229600" cy="563562"/>
          </a:xfrm>
        </p:spPr>
        <p:txBody>
          <a:bodyPr/>
          <a:lstStyle/>
          <a:p>
            <a:r>
              <a:rPr lang="en-US" dirty="0" smtClean="0"/>
              <a:t>object-</a:t>
            </a:r>
            <a:r>
              <a:rPr lang="en-US" dirty="0" err="1" smtClean="0"/>
              <a:t>in-GROUP</a:t>
            </a:r>
            <a:r>
              <a:rPr lang="en-US" dirty="0" smtClean="0"/>
              <a:t> contains multiple </a:t>
            </a:r>
            <a:br>
              <a:rPr lang="en-US" dirty="0" smtClean="0"/>
            </a:br>
            <a:r>
              <a:rPr lang="en-US" dirty="0" smtClean="0"/>
              <a:t>objects-</a:t>
            </a:r>
            <a:r>
              <a:rPr lang="en-US" dirty="0" err="1" smtClean="0"/>
              <a:t>in-GROUP</a:t>
            </a:r>
            <a:endParaRPr lang="en-US" dirty="0"/>
          </a:p>
        </p:txBody>
      </p:sp>
      <p:grpSp>
        <p:nvGrpSpPr>
          <p:cNvPr id="77" name="Group 76"/>
          <p:cNvGrpSpPr/>
          <p:nvPr/>
        </p:nvGrpSpPr>
        <p:grpSpPr>
          <a:xfrm>
            <a:off x="624840" y="2260600"/>
            <a:ext cx="1676400" cy="2590800"/>
            <a:chOff x="762000" y="1524000"/>
            <a:chExt cx="1676400" cy="2590800"/>
          </a:xfrm>
        </p:grpSpPr>
        <p:sp>
          <p:nvSpPr>
            <p:cNvPr id="4" name="Rectangle 3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5791200" y="1944490"/>
            <a:ext cx="1676400" cy="2590800"/>
            <a:chOff x="762000" y="1524000"/>
            <a:chExt cx="1676400" cy="2590800"/>
          </a:xfrm>
        </p:grpSpPr>
        <p:sp>
          <p:nvSpPr>
            <p:cNvPr id="80" name="Rectangle 79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9" name="Elbow Connector 98"/>
          <p:cNvCxnSpPr>
            <a:stCxn id="34" idx="3"/>
            <a:endCxn id="95" idx="1"/>
          </p:cNvCxnSpPr>
          <p:nvPr/>
        </p:nvCxnSpPr>
        <p:spPr>
          <a:xfrm flipV="1">
            <a:off x="2225040" y="2349303"/>
            <a:ext cx="3642360" cy="2297310"/>
          </a:xfrm>
          <a:prstGeom prst="bentConnector3">
            <a:avLst/>
          </a:prstGeom>
          <a:ln w="44450">
            <a:solidFill>
              <a:srgbClr val="0C12FA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6019800" y="2362200"/>
            <a:ext cx="1676400" cy="2590800"/>
            <a:chOff x="762000" y="1524000"/>
            <a:chExt cx="1676400" cy="2590800"/>
          </a:xfrm>
        </p:grpSpPr>
        <p:sp>
          <p:nvSpPr>
            <p:cNvPr id="40" name="Rectangle 39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6248400" y="2819400"/>
            <a:ext cx="1676400" cy="2590800"/>
            <a:chOff x="762000" y="1524000"/>
            <a:chExt cx="1676400" cy="2590800"/>
          </a:xfrm>
        </p:grpSpPr>
        <p:sp>
          <p:nvSpPr>
            <p:cNvPr id="57" name="Rectangle 56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3" name="Elbow Connector 72"/>
          <p:cNvCxnSpPr>
            <a:stCxn id="34" idx="3"/>
            <a:endCxn id="55" idx="1"/>
          </p:cNvCxnSpPr>
          <p:nvPr/>
        </p:nvCxnSpPr>
        <p:spPr>
          <a:xfrm flipV="1">
            <a:off x="2225040" y="2767013"/>
            <a:ext cx="3870960" cy="1879600"/>
          </a:xfrm>
          <a:prstGeom prst="bentConnector3">
            <a:avLst/>
          </a:prstGeom>
          <a:ln w="44450">
            <a:solidFill>
              <a:srgbClr val="0C12FA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/>
          <p:cNvCxnSpPr>
            <a:stCxn id="34" idx="3"/>
            <a:endCxn id="72" idx="1"/>
          </p:cNvCxnSpPr>
          <p:nvPr/>
        </p:nvCxnSpPr>
        <p:spPr>
          <a:xfrm flipV="1">
            <a:off x="2225040" y="3224213"/>
            <a:ext cx="4099560" cy="1422400"/>
          </a:xfrm>
          <a:prstGeom prst="bentConnector3">
            <a:avLst/>
          </a:prstGeom>
          <a:ln w="44450">
            <a:solidFill>
              <a:srgbClr val="0C12FA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414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2920" y="609600"/>
            <a:ext cx="8229600" cy="563562"/>
          </a:xfrm>
        </p:spPr>
        <p:txBody>
          <a:bodyPr/>
          <a:lstStyle/>
          <a:p>
            <a:r>
              <a:rPr lang="en-US" dirty="0" smtClean="0"/>
              <a:t>each row in TABLE contains both parent and child object of collection (“flattening”)</a:t>
            </a:r>
            <a:endParaRPr lang="en-US" dirty="0"/>
          </a:p>
        </p:txBody>
      </p:sp>
      <p:grpSp>
        <p:nvGrpSpPr>
          <p:cNvPr id="41" name="Group 40"/>
          <p:cNvGrpSpPr/>
          <p:nvPr/>
        </p:nvGrpSpPr>
        <p:grpSpPr>
          <a:xfrm>
            <a:off x="6553200" y="2099675"/>
            <a:ext cx="1905001" cy="1600715"/>
            <a:chOff x="3581399" y="1573015"/>
            <a:chExt cx="1905001" cy="1600715"/>
          </a:xfrm>
        </p:grpSpPr>
        <p:sp>
          <p:nvSpPr>
            <p:cNvPr id="40" name="Rectangle 39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24840" y="1955800"/>
            <a:ext cx="1676400" cy="2590800"/>
            <a:chOff x="762000" y="1524000"/>
            <a:chExt cx="1676400" cy="2590800"/>
          </a:xfrm>
        </p:grpSpPr>
        <p:sp>
          <p:nvSpPr>
            <p:cNvPr id="4" name="Rectangle 3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3779520" y="3200400"/>
            <a:ext cx="1676400" cy="2590800"/>
            <a:chOff x="762000" y="1524000"/>
            <a:chExt cx="1676400" cy="2590800"/>
          </a:xfrm>
        </p:grpSpPr>
        <p:sp>
          <p:nvSpPr>
            <p:cNvPr id="80" name="Rectangle 79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9" name="Elbow Connector 98"/>
          <p:cNvCxnSpPr>
            <a:stCxn id="34" idx="3"/>
            <a:endCxn id="95" idx="1"/>
          </p:cNvCxnSpPr>
          <p:nvPr/>
        </p:nvCxnSpPr>
        <p:spPr>
          <a:xfrm flipV="1">
            <a:off x="2225040" y="3605213"/>
            <a:ext cx="1630680" cy="736600"/>
          </a:xfrm>
          <a:prstGeom prst="bentConnector3">
            <a:avLst/>
          </a:prstGeom>
          <a:ln w="44450">
            <a:solidFill>
              <a:srgbClr val="0C12FA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/>
          <p:cNvCxnSpPr>
            <a:stCxn id="31" idx="3"/>
            <a:endCxn id="29" idx="1"/>
          </p:cNvCxnSpPr>
          <p:nvPr/>
        </p:nvCxnSpPr>
        <p:spPr>
          <a:xfrm flipV="1">
            <a:off x="2225040" y="2704513"/>
            <a:ext cx="4419438" cy="3271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88" idx="3"/>
            <a:endCxn id="28" idx="1"/>
          </p:cNvCxnSpPr>
          <p:nvPr/>
        </p:nvCxnSpPr>
        <p:spPr>
          <a:xfrm flipV="1">
            <a:off x="5379720" y="3100388"/>
            <a:ext cx="1264758" cy="851996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9073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2920" y="609600"/>
            <a:ext cx="8229600" cy="563562"/>
          </a:xfrm>
        </p:spPr>
        <p:txBody>
          <a:bodyPr/>
          <a:lstStyle/>
          <a:p>
            <a:r>
              <a:rPr lang="en-US" dirty="0" smtClean="0"/>
              <a:t>each row in TABLE contains both parent and multiple child objects of collection (“flattening”)</a:t>
            </a:r>
            <a:endParaRPr lang="en-US" dirty="0"/>
          </a:p>
        </p:txBody>
      </p:sp>
      <p:grpSp>
        <p:nvGrpSpPr>
          <p:cNvPr id="77" name="Group 76"/>
          <p:cNvGrpSpPr/>
          <p:nvPr/>
        </p:nvGrpSpPr>
        <p:grpSpPr>
          <a:xfrm>
            <a:off x="624840" y="1447800"/>
            <a:ext cx="1676400" cy="2590800"/>
            <a:chOff x="762000" y="1524000"/>
            <a:chExt cx="1676400" cy="2590800"/>
          </a:xfrm>
        </p:grpSpPr>
        <p:sp>
          <p:nvSpPr>
            <p:cNvPr id="4" name="Rectangle 3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3332318" y="2389792"/>
            <a:ext cx="1676400" cy="2590800"/>
            <a:chOff x="762000" y="1524000"/>
            <a:chExt cx="1676400" cy="2590800"/>
          </a:xfrm>
        </p:grpSpPr>
        <p:sp>
          <p:nvSpPr>
            <p:cNvPr id="80" name="Rectangle 79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9" name="Elbow Connector 98"/>
          <p:cNvCxnSpPr>
            <a:stCxn id="34" idx="3"/>
            <a:endCxn id="95" idx="1"/>
          </p:cNvCxnSpPr>
          <p:nvPr/>
        </p:nvCxnSpPr>
        <p:spPr>
          <a:xfrm flipV="1">
            <a:off x="2225040" y="2794605"/>
            <a:ext cx="1183478" cy="1039208"/>
          </a:xfrm>
          <a:prstGeom prst="bentConnector3">
            <a:avLst/>
          </a:prstGeom>
          <a:ln w="44450">
            <a:solidFill>
              <a:srgbClr val="0C12FA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/>
          <p:cNvCxnSpPr>
            <a:stCxn id="31" idx="3"/>
            <a:endCxn id="29" idx="1"/>
          </p:cNvCxnSpPr>
          <p:nvPr/>
        </p:nvCxnSpPr>
        <p:spPr>
          <a:xfrm flipV="1">
            <a:off x="2225040" y="2196513"/>
            <a:ext cx="4419438" cy="3271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88" idx="3"/>
            <a:endCxn id="28" idx="1"/>
          </p:cNvCxnSpPr>
          <p:nvPr/>
        </p:nvCxnSpPr>
        <p:spPr>
          <a:xfrm flipV="1">
            <a:off x="4932518" y="2592388"/>
            <a:ext cx="1711960" cy="549388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/>
          <p:cNvGrpSpPr/>
          <p:nvPr/>
        </p:nvGrpSpPr>
        <p:grpSpPr>
          <a:xfrm>
            <a:off x="3520359" y="3281755"/>
            <a:ext cx="1676400" cy="2590800"/>
            <a:chOff x="762000" y="1524000"/>
            <a:chExt cx="1676400" cy="2590800"/>
          </a:xfrm>
        </p:grpSpPr>
        <p:sp>
          <p:nvSpPr>
            <p:cNvPr id="53" name="Rectangle 52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9" name="Elbow Connector 68"/>
          <p:cNvCxnSpPr>
            <a:stCxn id="34" idx="3"/>
            <a:endCxn id="68" idx="1"/>
          </p:cNvCxnSpPr>
          <p:nvPr/>
        </p:nvCxnSpPr>
        <p:spPr>
          <a:xfrm flipV="1">
            <a:off x="2225040" y="3686568"/>
            <a:ext cx="1371519" cy="147245"/>
          </a:xfrm>
          <a:prstGeom prst="bentConnector3">
            <a:avLst/>
          </a:prstGeom>
          <a:ln w="44450">
            <a:solidFill>
              <a:srgbClr val="0C12FA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/>
          <p:cNvCxnSpPr>
            <a:stCxn id="61" idx="3"/>
            <a:endCxn id="27" idx="1"/>
          </p:cNvCxnSpPr>
          <p:nvPr/>
        </p:nvCxnSpPr>
        <p:spPr>
          <a:xfrm flipV="1">
            <a:off x="5120559" y="2991654"/>
            <a:ext cx="1523919" cy="1042085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6553200" y="1591674"/>
            <a:ext cx="1905001" cy="2753115"/>
            <a:chOff x="6553200" y="2099674"/>
            <a:chExt cx="1905001" cy="2753115"/>
          </a:xfrm>
        </p:grpSpPr>
        <p:sp>
          <p:nvSpPr>
            <p:cNvPr id="7" name="Rectangle 6"/>
            <p:cNvSpPr/>
            <p:nvPr/>
          </p:nvSpPr>
          <p:spPr>
            <a:xfrm>
              <a:off x="6553201" y="2099674"/>
              <a:ext cx="1905000" cy="275311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553201" y="2099675"/>
              <a:ext cx="1905000" cy="40005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553201" y="2499725"/>
              <a:ext cx="1905000" cy="4000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553201" y="2900363"/>
              <a:ext cx="1905000" cy="4000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553200" y="2099675"/>
              <a:ext cx="423333" cy="27531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6644478" y="219968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644478" y="339964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644478" y="300037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644478" y="26045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553201" y="4095750"/>
              <a:ext cx="1905000" cy="4000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553201" y="3699875"/>
              <a:ext cx="1905000" cy="4000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6644478" y="381576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644478" y="4205679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644478" y="455295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3733800" y="4165600"/>
            <a:ext cx="1676400" cy="2590800"/>
            <a:chOff x="762000" y="1524000"/>
            <a:chExt cx="1676400" cy="2590800"/>
          </a:xfrm>
        </p:grpSpPr>
        <p:sp>
          <p:nvSpPr>
            <p:cNvPr id="100" name="Rectangle 99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7" name="Elbow Connector 116"/>
          <p:cNvCxnSpPr>
            <a:stCxn id="34" idx="3"/>
            <a:endCxn id="116" idx="1"/>
          </p:cNvCxnSpPr>
          <p:nvPr/>
        </p:nvCxnSpPr>
        <p:spPr>
          <a:xfrm>
            <a:off x="2225040" y="3833813"/>
            <a:ext cx="1584960" cy="736600"/>
          </a:xfrm>
          <a:prstGeom prst="bentConnector3">
            <a:avLst/>
          </a:prstGeom>
          <a:ln w="44450">
            <a:solidFill>
              <a:srgbClr val="0C12FA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/>
          <p:cNvCxnSpPr>
            <a:stCxn id="109" idx="3"/>
            <a:endCxn id="78" idx="1"/>
          </p:cNvCxnSpPr>
          <p:nvPr/>
        </p:nvCxnSpPr>
        <p:spPr>
          <a:xfrm flipV="1">
            <a:off x="5334000" y="3407774"/>
            <a:ext cx="1310478" cy="1509810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3346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2920" y="609600"/>
            <a:ext cx="8229600" cy="563562"/>
          </a:xfrm>
        </p:spPr>
        <p:txBody>
          <a:bodyPr/>
          <a:lstStyle/>
          <a:p>
            <a:r>
              <a:rPr lang="en-US" dirty="0" smtClean="0"/>
              <a:t>all objects in table are contained by same parent(-</a:t>
            </a:r>
            <a:r>
              <a:rPr lang="en-US" dirty="0" err="1" smtClean="0"/>
              <a:t>in-GROUP</a:t>
            </a:r>
            <a:r>
              <a:rPr lang="en-US" dirty="0" smtClean="0"/>
              <a:t>)</a:t>
            </a:r>
            <a:endParaRPr lang="en-US" dirty="0"/>
          </a:p>
        </p:txBody>
      </p:sp>
      <p:grpSp>
        <p:nvGrpSpPr>
          <p:cNvPr id="41" name="Group 40"/>
          <p:cNvGrpSpPr/>
          <p:nvPr/>
        </p:nvGrpSpPr>
        <p:grpSpPr>
          <a:xfrm>
            <a:off x="6553200" y="2099675"/>
            <a:ext cx="1905001" cy="1600715"/>
            <a:chOff x="3581399" y="1573015"/>
            <a:chExt cx="1905001" cy="1600715"/>
          </a:xfrm>
        </p:grpSpPr>
        <p:sp>
          <p:nvSpPr>
            <p:cNvPr id="40" name="Rectangle 39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24840" y="2061380"/>
            <a:ext cx="1676400" cy="2590800"/>
            <a:chOff x="762000" y="1524000"/>
            <a:chExt cx="1676400" cy="2590800"/>
          </a:xfrm>
        </p:grpSpPr>
        <p:sp>
          <p:nvSpPr>
            <p:cNvPr id="4" name="Rectangle 3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3779520" y="3200400"/>
            <a:ext cx="1676400" cy="2590800"/>
            <a:chOff x="762000" y="1524000"/>
            <a:chExt cx="1676400" cy="2590800"/>
          </a:xfrm>
        </p:grpSpPr>
        <p:sp>
          <p:nvSpPr>
            <p:cNvPr id="80" name="Rectangle 79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9" name="Elbow Connector 98"/>
          <p:cNvCxnSpPr>
            <a:stCxn id="34" idx="3"/>
            <a:endCxn id="95" idx="1"/>
          </p:cNvCxnSpPr>
          <p:nvPr/>
        </p:nvCxnSpPr>
        <p:spPr>
          <a:xfrm flipV="1">
            <a:off x="2225040" y="3605213"/>
            <a:ext cx="1630680" cy="842180"/>
          </a:xfrm>
          <a:prstGeom prst="bentConnector3">
            <a:avLst/>
          </a:prstGeom>
          <a:ln w="44450">
            <a:solidFill>
              <a:srgbClr val="0C12FA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88" idx="3"/>
            <a:endCxn id="28" idx="1"/>
          </p:cNvCxnSpPr>
          <p:nvPr/>
        </p:nvCxnSpPr>
        <p:spPr>
          <a:xfrm flipV="1">
            <a:off x="5379720" y="3100388"/>
            <a:ext cx="1264758" cy="851996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8098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complex: “referencing per ID”</a:t>
            </a:r>
            <a:br>
              <a:rPr lang="en-US" dirty="0" smtClean="0"/>
            </a:br>
            <a:r>
              <a:rPr lang="en-US" dirty="0" err="1" smtClean="0"/>
              <a:t>ala</a:t>
            </a:r>
            <a:r>
              <a:rPr lang="en-US" dirty="0" smtClean="0"/>
              <a:t> Object Relational Mapping (ORM)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objects (in tables) referencing each other via FKs</a:t>
            </a:r>
          </a:p>
          <a:p>
            <a:r>
              <a:rPr lang="en-US" dirty="0" smtClean="0"/>
              <a:t>inverting relation between parent and child in collection</a:t>
            </a:r>
          </a:p>
          <a:p>
            <a:r>
              <a:rPr lang="en-US" dirty="0" smtClean="0"/>
              <a:t>Need referenced object to define an Identifier explicitly</a:t>
            </a:r>
          </a:p>
          <a:p>
            <a:r>
              <a:rPr lang="en-US" dirty="0" smtClean="0"/>
              <a:t>Need referring object to define a FK implementing the reference</a:t>
            </a:r>
          </a:p>
          <a:p>
            <a:r>
              <a:rPr lang="en-US" dirty="0" smtClean="0"/>
              <a:t>also objects from table referencing objects in GROUP-s if NOT all rows refer to same object. </a:t>
            </a:r>
          </a:p>
          <a:p>
            <a:r>
              <a:rPr lang="en-US" dirty="0" smtClean="0"/>
              <a:t>Note, in latter case, </a:t>
            </a:r>
            <a:r>
              <a:rPr lang="en-US" dirty="0" err="1" smtClean="0"/>
              <a:t>iso</a:t>
            </a:r>
            <a:r>
              <a:rPr lang="en-US" dirty="0" smtClean="0"/>
              <a:t> defining the GROUPs, maybe users should put those objects in a table?, i.e. only have referencing-per-id between tables?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0681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0" y="210726"/>
            <a:ext cx="1498600" cy="563562"/>
          </a:xfrm>
        </p:spPr>
        <p:txBody>
          <a:bodyPr/>
          <a:lstStyle/>
          <a:p>
            <a:r>
              <a:rPr lang="en-US" dirty="0" smtClean="0"/>
              <a:t>ID</a:t>
            </a:r>
            <a:endParaRPr lang="en-US" dirty="0"/>
          </a:p>
        </p:txBody>
      </p:sp>
      <p:grpSp>
        <p:nvGrpSpPr>
          <p:cNvPr id="48" name="Group 47"/>
          <p:cNvGrpSpPr/>
          <p:nvPr/>
        </p:nvGrpSpPr>
        <p:grpSpPr>
          <a:xfrm>
            <a:off x="6058166" y="1228734"/>
            <a:ext cx="1905001" cy="1600715"/>
            <a:chOff x="3581399" y="1573015"/>
            <a:chExt cx="1905001" cy="1600715"/>
          </a:xfrm>
        </p:grpSpPr>
        <p:sp>
          <p:nvSpPr>
            <p:cNvPr id="49" name="Rectangle 48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56" name="Rectangle 55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Rectangle 50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6058166" y="3061680"/>
            <a:ext cx="1905001" cy="1600715"/>
            <a:chOff x="3581399" y="1573015"/>
            <a:chExt cx="1905001" cy="1600715"/>
          </a:xfrm>
        </p:grpSpPr>
        <p:sp>
          <p:nvSpPr>
            <p:cNvPr id="64" name="Rectangle 63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71" name="Rectangle 70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6" name="Rectangle 65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6058166" y="4882734"/>
            <a:ext cx="1905001" cy="1600715"/>
            <a:chOff x="3581399" y="1573015"/>
            <a:chExt cx="1905001" cy="1600715"/>
          </a:xfrm>
        </p:grpSpPr>
        <p:sp>
          <p:nvSpPr>
            <p:cNvPr id="81" name="Rectangle 80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2" name="Group 81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3" name="Rectangle 82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3" name="Group 162"/>
          <p:cNvGrpSpPr/>
          <p:nvPr/>
        </p:nvGrpSpPr>
        <p:grpSpPr>
          <a:xfrm>
            <a:off x="120074" y="1427871"/>
            <a:ext cx="2940627" cy="726653"/>
            <a:chOff x="120074" y="1427871"/>
            <a:chExt cx="2940627" cy="726653"/>
          </a:xfrm>
        </p:grpSpPr>
        <p:sp>
          <p:nvSpPr>
            <p:cNvPr id="108" name="Rectangle 107"/>
            <p:cNvSpPr/>
            <p:nvPr/>
          </p:nvSpPr>
          <p:spPr>
            <a:xfrm>
              <a:off x="120074" y="1431510"/>
              <a:ext cx="2940627" cy="7230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503723" y="1431833"/>
              <a:ext cx="2550459" cy="32020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 smtClean="0">
                  <a:solidFill>
                    <a:schemeClr val="tx1"/>
                  </a:solidFill>
                </a:rPr>
                <a:t>vo-dml:Identifier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22723" y="1754081"/>
              <a:ext cx="2931459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- field [1..*]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2673183" y="1431834"/>
              <a:ext cx="381000" cy="7226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130573" y="1427871"/>
              <a:ext cx="381000" cy="3254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219761" y="1490560"/>
              <a:ext cx="202623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2744153" y="149192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2744153" y="185429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1" name="Group 160"/>
          <p:cNvGrpSpPr/>
          <p:nvPr/>
        </p:nvGrpSpPr>
        <p:grpSpPr>
          <a:xfrm>
            <a:off x="219761" y="4953000"/>
            <a:ext cx="2940627" cy="1528320"/>
            <a:chOff x="81401" y="5063389"/>
            <a:chExt cx="2940627" cy="1528320"/>
          </a:xfrm>
        </p:grpSpPr>
        <p:sp>
          <p:nvSpPr>
            <p:cNvPr id="126" name="Rectangle 125"/>
            <p:cNvSpPr/>
            <p:nvPr/>
          </p:nvSpPr>
          <p:spPr>
            <a:xfrm>
              <a:off x="81401" y="5067028"/>
              <a:ext cx="2940627" cy="152468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465050" y="5067351"/>
              <a:ext cx="2550459" cy="32020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 smtClean="0">
                  <a:solidFill>
                    <a:schemeClr val="tx1"/>
                  </a:solidFill>
                </a:rPr>
                <a:t>vo-dml:Identifier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84050" y="5389599"/>
              <a:ext cx="2931459" cy="12009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- field [1..*]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2634510" y="5067351"/>
              <a:ext cx="381000" cy="15231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91900" y="5063389"/>
              <a:ext cx="381000" cy="3254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181088" y="5126078"/>
              <a:ext cx="202623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2705480" y="5127443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2705480" y="5489808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2705480" y="6290299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2705480" y="589025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2" name="Elbow Connector 91"/>
          <p:cNvCxnSpPr>
            <a:stCxn id="135" idx="3"/>
            <a:endCxn id="87" idx="1"/>
          </p:cNvCxnSpPr>
          <p:nvPr/>
        </p:nvCxnSpPr>
        <p:spPr>
          <a:xfrm>
            <a:off x="3072440" y="5479432"/>
            <a:ext cx="3077004" cy="8140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/>
          <p:cNvCxnSpPr>
            <a:stCxn id="137" idx="3"/>
            <a:endCxn id="86" idx="1"/>
          </p:cNvCxnSpPr>
          <p:nvPr/>
        </p:nvCxnSpPr>
        <p:spPr>
          <a:xfrm>
            <a:off x="3072440" y="5879874"/>
            <a:ext cx="3077004" cy="3573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/>
          <p:cNvCxnSpPr>
            <a:stCxn id="136" idx="3"/>
            <a:endCxn id="85" idx="1"/>
          </p:cNvCxnSpPr>
          <p:nvPr/>
        </p:nvCxnSpPr>
        <p:spPr>
          <a:xfrm>
            <a:off x="3072440" y="6279923"/>
            <a:ext cx="3077004" cy="2790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/>
          <p:cNvGrpSpPr/>
          <p:nvPr/>
        </p:nvGrpSpPr>
        <p:grpSpPr>
          <a:xfrm>
            <a:off x="138004" y="3140105"/>
            <a:ext cx="2940627" cy="1127095"/>
            <a:chOff x="138004" y="2954631"/>
            <a:chExt cx="2940627" cy="1127095"/>
          </a:xfrm>
        </p:grpSpPr>
        <p:sp>
          <p:nvSpPr>
            <p:cNvPr id="143" name="Rectangle 142"/>
            <p:cNvSpPr/>
            <p:nvPr/>
          </p:nvSpPr>
          <p:spPr>
            <a:xfrm>
              <a:off x="138004" y="2958270"/>
              <a:ext cx="2940627" cy="11234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521653" y="2958593"/>
              <a:ext cx="2550459" cy="32020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 smtClean="0">
                  <a:solidFill>
                    <a:schemeClr val="tx1"/>
                  </a:solidFill>
                </a:rPr>
                <a:t>vo-dml:Identifier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140653" y="3280841"/>
              <a:ext cx="2931459" cy="8008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- field [1..*]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2691113" y="2958594"/>
              <a:ext cx="381000" cy="1123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148503" y="2954631"/>
              <a:ext cx="381000" cy="3254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237691" y="3017320"/>
              <a:ext cx="202623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2762083" y="301868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2762083" y="338105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2762083" y="3781492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5" name="Elbow Connector 74"/>
          <p:cNvCxnSpPr>
            <a:stCxn id="151" idx="3"/>
            <a:endCxn id="70" idx="1"/>
          </p:cNvCxnSpPr>
          <p:nvPr/>
        </p:nvCxnSpPr>
        <p:spPr>
          <a:xfrm flipV="1">
            <a:off x="2990683" y="3666518"/>
            <a:ext cx="3158761" cy="19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/>
          <p:cNvCxnSpPr>
            <a:stCxn id="152" idx="3"/>
            <a:endCxn id="69" idx="1"/>
          </p:cNvCxnSpPr>
          <p:nvPr/>
        </p:nvCxnSpPr>
        <p:spPr>
          <a:xfrm flipV="1">
            <a:off x="2990683" y="4062393"/>
            <a:ext cx="3158761" cy="4586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23" idx="3"/>
            <a:endCxn id="55" idx="1"/>
          </p:cNvCxnSpPr>
          <p:nvPr/>
        </p:nvCxnSpPr>
        <p:spPr>
          <a:xfrm flipV="1">
            <a:off x="2972753" y="1833572"/>
            <a:ext cx="3176691" cy="120731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8990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Assigning identifier.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137758" y="2607387"/>
            <a:ext cx="2529242" cy="1916150"/>
            <a:chOff x="332740" y="1918308"/>
            <a:chExt cx="3248660" cy="2590800"/>
          </a:xfrm>
        </p:grpSpPr>
        <p:sp>
          <p:nvSpPr>
            <p:cNvPr id="5" name="Rectangle 4"/>
            <p:cNvSpPr/>
            <p:nvPr/>
          </p:nvSpPr>
          <p:spPr>
            <a:xfrm>
              <a:off x="332740" y="1918308"/>
              <a:ext cx="324866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32740" y="1918308"/>
              <a:ext cx="324866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32740" y="2470758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32740" y="2870416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32740" y="3270466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 smtClean="0">
                  <a:solidFill>
                    <a:schemeClr val="tx1"/>
                  </a:solidFill>
                </a:rPr>
                <a:t>- ID: </a:t>
              </a:r>
              <a:r>
                <a:rPr lang="en-US" sz="1400" dirty="0" err="1" smtClean="0">
                  <a:solidFill>
                    <a:schemeClr val="tx1"/>
                  </a:solidFill>
                </a:rPr>
                <a:t>vo-dml:Identifier</a:t>
              </a:r>
              <a:r>
                <a:rPr lang="en-US" sz="1400" dirty="0" smtClean="0">
                  <a:solidFill>
                    <a:schemeClr val="tx1"/>
                  </a:solidFill>
                </a:rPr>
                <a:t> [0..1]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2740" y="3670908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00400" y="1918308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32740" y="1918308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276600" y="2570279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76600" y="2970624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276600" y="3771116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276600" y="4204308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76600" y="3370673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276600" y="1994508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08940" y="1972283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08940" y="2223108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140797" y="2805164"/>
            <a:ext cx="1524000" cy="1246525"/>
            <a:chOff x="3581399" y="1573015"/>
            <a:chExt cx="1905001" cy="1600715"/>
          </a:xfrm>
        </p:grpSpPr>
        <p:sp>
          <p:nvSpPr>
            <p:cNvPr id="31" name="Rectangle 30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38" name="Rectangle 37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Rectangle 32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3777444" y="2906785"/>
            <a:ext cx="2367899" cy="864381"/>
            <a:chOff x="138004" y="2954631"/>
            <a:chExt cx="2940627" cy="1127095"/>
          </a:xfrm>
        </p:grpSpPr>
        <p:sp>
          <p:nvSpPr>
            <p:cNvPr id="46" name="Rectangle 45"/>
            <p:cNvSpPr/>
            <p:nvPr/>
          </p:nvSpPr>
          <p:spPr>
            <a:xfrm>
              <a:off x="138004" y="2958270"/>
              <a:ext cx="2940627" cy="11234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21653" y="2958593"/>
              <a:ext cx="2550459" cy="32020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 err="1" smtClean="0">
                  <a:solidFill>
                    <a:schemeClr val="tx1"/>
                  </a:solidFill>
                </a:rPr>
                <a:t>vo-dml:Identifier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40653" y="3280841"/>
              <a:ext cx="2931459" cy="80088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 smtClean="0">
                  <a:solidFill>
                    <a:schemeClr val="tx1"/>
                  </a:solidFill>
                </a:rPr>
                <a:t>- field [1..*]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691113" y="2958594"/>
              <a:ext cx="381000" cy="11231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148503" y="2954631"/>
              <a:ext cx="381000" cy="3254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237691" y="3017320"/>
              <a:ext cx="202623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762083" y="301868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762083" y="338105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762083" y="3781492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" name="Elbow Connector 41"/>
          <p:cNvCxnSpPr>
            <a:stCxn id="53" idx="3"/>
            <a:endCxn id="37" idx="1"/>
          </p:cNvCxnSpPr>
          <p:nvPr/>
        </p:nvCxnSpPr>
        <p:spPr>
          <a:xfrm flipV="1">
            <a:off x="6074524" y="3276169"/>
            <a:ext cx="1139295" cy="34342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stCxn id="54" idx="3"/>
            <a:endCxn id="36" idx="1"/>
          </p:cNvCxnSpPr>
          <p:nvPr/>
        </p:nvCxnSpPr>
        <p:spPr>
          <a:xfrm flipV="1">
            <a:off x="6074524" y="3584449"/>
            <a:ext cx="1139295" cy="33165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17" idx="3"/>
            <a:endCxn id="51" idx="1"/>
          </p:cNvCxnSpPr>
          <p:nvPr/>
        </p:nvCxnSpPr>
        <p:spPr>
          <a:xfrm flipV="1">
            <a:off x="2607674" y="3031563"/>
            <a:ext cx="1250042" cy="723959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52400" y="4812452"/>
            <a:ext cx="4510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ID attribute </a:t>
            </a:r>
            <a:r>
              <a:rPr lang="en-US" dirty="0"/>
              <a:t>inherited from </a:t>
            </a:r>
            <a:r>
              <a:rPr lang="en-US" dirty="0" err="1"/>
              <a:t>vo-dml:ObjectType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1925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case (single field)</a:t>
            </a:r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283434" y="4214150"/>
            <a:ext cx="2764566" cy="2186981"/>
            <a:chOff x="332740" y="1918308"/>
            <a:chExt cx="3248660" cy="2590800"/>
          </a:xfrm>
        </p:grpSpPr>
        <p:sp>
          <p:nvSpPr>
            <p:cNvPr id="5" name="Rectangle 4"/>
            <p:cNvSpPr/>
            <p:nvPr/>
          </p:nvSpPr>
          <p:spPr>
            <a:xfrm>
              <a:off x="332740" y="1918308"/>
              <a:ext cx="324866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32740" y="1918308"/>
              <a:ext cx="324866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32740" y="2470758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32740" y="2870416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32740" y="3270466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 smtClean="0">
                  <a:solidFill>
                    <a:schemeClr val="tx1"/>
                  </a:solidFill>
                </a:rPr>
                <a:t>- ID: </a:t>
              </a:r>
              <a:r>
                <a:rPr lang="en-US" sz="1600" dirty="0" err="1" smtClean="0">
                  <a:solidFill>
                    <a:schemeClr val="tx1"/>
                  </a:solidFill>
                </a:rPr>
                <a:t>vo-dml:Identifier</a:t>
              </a:r>
              <a:r>
                <a:rPr lang="en-US" sz="1600" dirty="0" smtClean="0">
                  <a:solidFill>
                    <a:schemeClr val="tx1"/>
                  </a:solidFill>
                </a:rPr>
                <a:t> [0..1]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2740" y="3670908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00400" y="1918308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32740" y="1918308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276600" y="2570279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76600" y="2970624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276600" y="3771116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276600" y="4204308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76600" y="3370673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276600" y="1994508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08940" y="1972283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08940" y="2223108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043150" y="5104885"/>
            <a:ext cx="1905001" cy="1600715"/>
            <a:chOff x="3581399" y="1573015"/>
            <a:chExt cx="1905001" cy="1600715"/>
          </a:xfrm>
        </p:grpSpPr>
        <p:sp>
          <p:nvSpPr>
            <p:cNvPr id="31" name="Rectangle 30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38" name="Rectangle 37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Rectangle 32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4019986" y="4191102"/>
            <a:ext cx="2373927" cy="657823"/>
            <a:chOff x="120074" y="1427871"/>
            <a:chExt cx="2940627" cy="726653"/>
          </a:xfrm>
        </p:grpSpPr>
        <p:sp>
          <p:nvSpPr>
            <p:cNvPr id="56" name="Rectangle 55"/>
            <p:cNvSpPr/>
            <p:nvPr/>
          </p:nvSpPr>
          <p:spPr>
            <a:xfrm>
              <a:off x="120074" y="1431510"/>
              <a:ext cx="2940627" cy="7230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03723" y="1431833"/>
              <a:ext cx="2550459" cy="32020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 smtClean="0">
                  <a:solidFill>
                    <a:schemeClr val="tx1"/>
                  </a:solidFill>
                </a:rPr>
                <a:t>vo-dml:Identifier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22723" y="1754081"/>
              <a:ext cx="2931459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- field [1..*]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673183" y="1431834"/>
              <a:ext cx="381000" cy="7226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30573" y="1427871"/>
              <a:ext cx="381000" cy="3254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19761" y="1490560"/>
              <a:ext cx="202623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744153" y="149192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2744153" y="185429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" name="Elbow Connector 41"/>
          <p:cNvCxnSpPr>
            <a:stCxn id="65" idx="3"/>
            <a:endCxn id="37" idx="1"/>
          </p:cNvCxnSpPr>
          <p:nvPr/>
        </p:nvCxnSpPr>
        <p:spPr>
          <a:xfrm>
            <a:off x="6322914" y="4667669"/>
            <a:ext cx="811514" cy="1042054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17" idx="3"/>
            <a:endCxn id="63" idx="1"/>
          </p:cNvCxnSpPr>
          <p:nvPr/>
        </p:nvCxnSpPr>
        <p:spPr>
          <a:xfrm flipV="1">
            <a:off x="2983155" y="4338392"/>
            <a:ext cx="1117307" cy="1186172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24400" y="35891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==</a:t>
            </a:r>
            <a:endParaRPr lang="en-US" dirty="0"/>
          </a:p>
        </p:txBody>
      </p:sp>
      <p:grpSp>
        <p:nvGrpSpPr>
          <p:cNvPr id="126" name="Group 125"/>
          <p:cNvGrpSpPr/>
          <p:nvPr/>
        </p:nvGrpSpPr>
        <p:grpSpPr>
          <a:xfrm>
            <a:off x="299645" y="1113949"/>
            <a:ext cx="2764566" cy="2186981"/>
            <a:chOff x="332740" y="1918308"/>
            <a:chExt cx="3248660" cy="2590800"/>
          </a:xfrm>
        </p:grpSpPr>
        <p:sp>
          <p:nvSpPr>
            <p:cNvPr id="127" name="Rectangle 126"/>
            <p:cNvSpPr/>
            <p:nvPr/>
          </p:nvSpPr>
          <p:spPr>
            <a:xfrm>
              <a:off x="332740" y="1918308"/>
              <a:ext cx="324866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332740" y="1918308"/>
              <a:ext cx="324866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332740" y="2470758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332740" y="2870416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332740" y="3270466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 smtClean="0">
                  <a:solidFill>
                    <a:schemeClr val="tx1"/>
                  </a:solidFill>
                </a:rPr>
                <a:t>- ID: </a:t>
              </a:r>
              <a:r>
                <a:rPr lang="en-US" sz="1600" dirty="0" err="1" smtClean="0">
                  <a:solidFill>
                    <a:schemeClr val="tx1"/>
                  </a:solidFill>
                </a:rPr>
                <a:t>vo-dml:Identifier</a:t>
              </a:r>
              <a:r>
                <a:rPr lang="en-US" sz="1600" dirty="0" smtClean="0">
                  <a:solidFill>
                    <a:schemeClr val="tx1"/>
                  </a:solidFill>
                </a:rPr>
                <a:t> [0..1]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332740" y="3670908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3200400" y="1918308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332740" y="1918308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3276600" y="2570279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3276600" y="2970624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3276600" y="3771116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3276600" y="4204308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3276600" y="3370673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3276600" y="1994508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408940" y="1972283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408940" y="2223108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6426738" y="1678875"/>
            <a:ext cx="1905001" cy="1600715"/>
            <a:chOff x="3581399" y="1573015"/>
            <a:chExt cx="1905001" cy="1600715"/>
          </a:xfrm>
        </p:grpSpPr>
        <p:sp>
          <p:nvSpPr>
            <p:cNvPr id="144" name="Rectangle 143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151" name="Rectangle 150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tangle 151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tangle 152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 153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6" name="Rectangle 145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5" name="Elbow Connector 124"/>
          <p:cNvCxnSpPr>
            <a:stCxn id="139" idx="3"/>
            <a:endCxn id="150" idx="1"/>
          </p:cNvCxnSpPr>
          <p:nvPr/>
        </p:nvCxnSpPr>
        <p:spPr>
          <a:xfrm flipV="1">
            <a:off x="2999366" y="2283713"/>
            <a:ext cx="3518650" cy="140650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8536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case (single field)</a:t>
            </a:r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283434" y="4214150"/>
            <a:ext cx="2764566" cy="2186981"/>
            <a:chOff x="332740" y="1918308"/>
            <a:chExt cx="3248660" cy="2590800"/>
          </a:xfrm>
        </p:grpSpPr>
        <p:sp>
          <p:nvSpPr>
            <p:cNvPr id="5" name="Rectangle 4"/>
            <p:cNvSpPr/>
            <p:nvPr/>
          </p:nvSpPr>
          <p:spPr>
            <a:xfrm>
              <a:off x="332740" y="1918308"/>
              <a:ext cx="324866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32740" y="1918308"/>
              <a:ext cx="324866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32740" y="2470758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32740" y="2870416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332740" y="3270466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 smtClean="0">
                  <a:solidFill>
                    <a:schemeClr val="tx1"/>
                  </a:solidFill>
                </a:rPr>
                <a:t>- ID: </a:t>
              </a:r>
              <a:r>
                <a:rPr lang="en-US" sz="1600" dirty="0" err="1" smtClean="0">
                  <a:solidFill>
                    <a:schemeClr val="tx1"/>
                  </a:solidFill>
                </a:rPr>
                <a:t>vo-dml:Identifier</a:t>
              </a:r>
              <a:r>
                <a:rPr lang="en-US" sz="1600" dirty="0" smtClean="0">
                  <a:solidFill>
                    <a:schemeClr val="tx1"/>
                  </a:solidFill>
                </a:rPr>
                <a:t> [0..1]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2740" y="3670908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200400" y="1918308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32740" y="1918308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276600" y="2570279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76600" y="2970624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276600" y="3771116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276600" y="4204308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276600" y="3370673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276600" y="1994508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08940" y="1972283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08940" y="2223108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043150" y="5104885"/>
            <a:ext cx="1905001" cy="1600715"/>
            <a:chOff x="3581399" y="1573015"/>
            <a:chExt cx="1905001" cy="1600715"/>
          </a:xfrm>
        </p:grpSpPr>
        <p:sp>
          <p:nvSpPr>
            <p:cNvPr id="31" name="Rectangle 30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38" name="Rectangle 37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Rectangle 32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4019986" y="4191102"/>
            <a:ext cx="2373927" cy="657823"/>
            <a:chOff x="120074" y="1427871"/>
            <a:chExt cx="2940627" cy="726653"/>
          </a:xfrm>
        </p:grpSpPr>
        <p:sp>
          <p:nvSpPr>
            <p:cNvPr id="56" name="Rectangle 55"/>
            <p:cNvSpPr/>
            <p:nvPr/>
          </p:nvSpPr>
          <p:spPr>
            <a:xfrm>
              <a:off x="120074" y="1431510"/>
              <a:ext cx="2940627" cy="7230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03723" y="1431833"/>
              <a:ext cx="2550459" cy="32020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 err="1" smtClean="0">
                  <a:solidFill>
                    <a:schemeClr val="tx1"/>
                  </a:solidFill>
                </a:rPr>
                <a:t>vo-dml:Reference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122723" y="1754081"/>
              <a:ext cx="2931459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- field [1..*]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673183" y="1431834"/>
              <a:ext cx="381000" cy="7226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30573" y="1427871"/>
              <a:ext cx="381000" cy="32540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19761" y="1490560"/>
              <a:ext cx="202623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2744153" y="149192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2744153" y="185429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" name="Elbow Connector 41"/>
          <p:cNvCxnSpPr>
            <a:stCxn id="65" idx="3"/>
            <a:endCxn id="37" idx="1"/>
          </p:cNvCxnSpPr>
          <p:nvPr/>
        </p:nvCxnSpPr>
        <p:spPr>
          <a:xfrm>
            <a:off x="6322914" y="4667669"/>
            <a:ext cx="811514" cy="1042054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15" idx="3"/>
            <a:endCxn id="63" idx="1"/>
          </p:cNvCxnSpPr>
          <p:nvPr/>
        </p:nvCxnSpPr>
        <p:spPr>
          <a:xfrm flipV="1">
            <a:off x="2983155" y="4338392"/>
            <a:ext cx="1117307" cy="1524199"/>
          </a:xfrm>
          <a:prstGeom prst="bentConnector3">
            <a:avLst>
              <a:gd name="adj1" fmla="val 50000"/>
            </a:avLst>
          </a:prstGeom>
          <a:ln w="44450">
            <a:solidFill>
              <a:srgbClr val="00B05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24400" y="35891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==</a:t>
            </a:r>
            <a:endParaRPr lang="en-US" dirty="0"/>
          </a:p>
        </p:txBody>
      </p:sp>
      <p:grpSp>
        <p:nvGrpSpPr>
          <p:cNvPr id="126" name="Group 125"/>
          <p:cNvGrpSpPr/>
          <p:nvPr/>
        </p:nvGrpSpPr>
        <p:grpSpPr>
          <a:xfrm>
            <a:off x="299645" y="1113949"/>
            <a:ext cx="2764566" cy="2186981"/>
            <a:chOff x="332740" y="1918308"/>
            <a:chExt cx="3248660" cy="2590800"/>
          </a:xfrm>
        </p:grpSpPr>
        <p:sp>
          <p:nvSpPr>
            <p:cNvPr id="127" name="Rectangle 126"/>
            <p:cNvSpPr/>
            <p:nvPr/>
          </p:nvSpPr>
          <p:spPr>
            <a:xfrm>
              <a:off x="332740" y="1918308"/>
              <a:ext cx="324866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332740" y="1918308"/>
              <a:ext cx="324866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332740" y="2470758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332740" y="2870416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332740" y="3270466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 smtClean="0">
                  <a:solidFill>
                    <a:schemeClr val="tx1"/>
                  </a:solidFill>
                </a:rPr>
                <a:t>- ID: </a:t>
              </a:r>
              <a:r>
                <a:rPr lang="en-US" sz="1600" dirty="0" err="1" smtClean="0">
                  <a:solidFill>
                    <a:schemeClr val="tx1"/>
                  </a:solidFill>
                </a:rPr>
                <a:t>vo-dml:Identifier</a:t>
              </a:r>
              <a:r>
                <a:rPr lang="en-US" sz="1600" dirty="0" smtClean="0">
                  <a:solidFill>
                    <a:schemeClr val="tx1"/>
                  </a:solidFill>
                </a:rPr>
                <a:t> [0..1]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332740" y="3670908"/>
              <a:ext cx="324866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3200400" y="1918308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332740" y="1918308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3276600" y="2570279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3276600" y="2970624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3276600" y="3771116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3276600" y="4204308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3276600" y="3370673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3276600" y="1994508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408940" y="1972283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408940" y="2223108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6426738" y="1678875"/>
            <a:ext cx="1905001" cy="1600715"/>
            <a:chOff x="3581399" y="1573015"/>
            <a:chExt cx="1905001" cy="1600715"/>
          </a:xfrm>
        </p:grpSpPr>
        <p:sp>
          <p:nvSpPr>
            <p:cNvPr id="144" name="Rectangle 143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5" name="Group 144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151" name="Rectangle 150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tangle 151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tangle 152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 153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6" name="Rectangle 145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5" name="Elbow Connector 124"/>
          <p:cNvCxnSpPr>
            <a:stCxn id="139" idx="3"/>
            <a:endCxn id="150" idx="1"/>
          </p:cNvCxnSpPr>
          <p:nvPr/>
        </p:nvCxnSpPr>
        <p:spPr>
          <a:xfrm flipV="1">
            <a:off x="2999366" y="2283713"/>
            <a:ext cx="3518650" cy="140650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2154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1020762"/>
          </a:xfrm>
        </p:spPr>
        <p:txBody>
          <a:bodyPr/>
          <a:lstStyle/>
          <a:p>
            <a:r>
              <a:rPr lang="en-US" dirty="0" smtClean="0"/>
              <a:t>Object in 1 TABLE references object in another table (or other row in same TABLE)</a:t>
            </a:r>
            <a:endParaRPr lang="en-US" dirty="0"/>
          </a:p>
        </p:txBody>
      </p:sp>
      <p:grpSp>
        <p:nvGrpSpPr>
          <p:cNvPr id="41" name="Group 40"/>
          <p:cNvGrpSpPr/>
          <p:nvPr/>
        </p:nvGrpSpPr>
        <p:grpSpPr>
          <a:xfrm>
            <a:off x="6701370" y="4266685"/>
            <a:ext cx="1905001" cy="1600715"/>
            <a:chOff x="3581399" y="1573015"/>
            <a:chExt cx="1905001" cy="1600715"/>
          </a:xfrm>
        </p:grpSpPr>
        <p:sp>
          <p:nvSpPr>
            <p:cNvPr id="40" name="Rectangle 39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332740" y="1918308"/>
            <a:ext cx="1676400" cy="2590800"/>
            <a:chOff x="762000" y="1524000"/>
            <a:chExt cx="1676400" cy="2590800"/>
          </a:xfrm>
        </p:grpSpPr>
        <p:sp>
          <p:nvSpPr>
            <p:cNvPr id="4" name="Rectangle 3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3614420" y="3912578"/>
            <a:ext cx="1676400" cy="2590800"/>
            <a:chOff x="762000" y="1524000"/>
            <a:chExt cx="1676400" cy="2590800"/>
          </a:xfrm>
        </p:grpSpPr>
        <p:sp>
          <p:nvSpPr>
            <p:cNvPr id="80" name="Rectangle 79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9" name="Elbow Connector 98"/>
          <p:cNvCxnSpPr>
            <a:stCxn id="33" idx="3"/>
            <a:endCxn id="94" idx="1"/>
          </p:cNvCxnSpPr>
          <p:nvPr/>
        </p:nvCxnSpPr>
        <p:spPr>
          <a:xfrm>
            <a:off x="1932940" y="3871129"/>
            <a:ext cx="1757680" cy="195437"/>
          </a:xfrm>
          <a:prstGeom prst="bentConnector3">
            <a:avLst/>
          </a:prstGeom>
          <a:ln w="44450">
            <a:solidFill>
              <a:srgbClr val="00B050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/>
          <p:cNvCxnSpPr>
            <a:stCxn id="31" idx="3"/>
            <a:endCxn id="59" idx="1"/>
          </p:cNvCxnSpPr>
          <p:nvPr/>
        </p:nvCxnSpPr>
        <p:spPr>
          <a:xfrm flipV="1">
            <a:off x="1932940" y="2042072"/>
            <a:ext cx="4847006" cy="628220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88" idx="3"/>
            <a:endCxn id="29" idx="1"/>
          </p:cNvCxnSpPr>
          <p:nvPr/>
        </p:nvCxnSpPr>
        <p:spPr>
          <a:xfrm>
            <a:off x="5214620" y="4664562"/>
            <a:ext cx="1578028" cy="206961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/>
          <p:cNvGrpSpPr/>
          <p:nvPr/>
        </p:nvGrpSpPr>
        <p:grpSpPr>
          <a:xfrm>
            <a:off x="6688668" y="1437234"/>
            <a:ext cx="1905001" cy="1600715"/>
            <a:chOff x="3581399" y="1573015"/>
            <a:chExt cx="1905001" cy="1600715"/>
          </a:xfrm>
        </p:grpSpPr>
        <p:sp>
          <p:nvSpPr>
            <p:cNvPr id="53" name="Rectangle 52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5" name="Rectangle 54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402027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05800" cy="1020762"/>
          </a:xfrm>
        </p:spPr>
        <p:txBody>
          <a:bodyPr/>
          <a:lstStyle/>
          <a:p>
            <a:r>
              <a:rPr lang="en-US" dirty="0" smtClean="0"/>
              <a:t>Object in 1 TABLE contains objects in another table (never (?) in other rows in same TABLE)</a:t>
            </a:r>
            <a:endParaRPr lang="en-US" dirty="0"/>
          </a:p>
        </p:txBody>
      </p:sp>
      <p:grpSp>
        <p:nvGrpSpPr>
          <p:cNvPr id="41" name="Group 40"/>
          <p:cNvGrpSpPr/>
          <p:nvPr/>
        </p:nvGrpSpPr>
        <p:grpSpPr>
          <a:xfrm>
            <a:off x="6688669" y="4207266"/>
            <a:ext cx="1905001" cy="1600715"/>
            <a:chOff x="3581399" y="1573015"/>
            <a:chExt cx="1905001" cy="1600715"/>
          </a:xfrm>
        </p:grpSpPr>
        <p:sp>
          <p:nvSpPr>
            <p:cNvPr id="40" name="Rectangle 39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332740" y="1918308"/>
            <a:ext cx="1676400" cy="2590800"/>
            <a:chOff x="762000" y="1524000"/>
            <a:chExt cx="1676400" cy="2590800"/>
          </a:xfrm>
        </p:grpSpPr>
        <p:sp>
          <p:nvSpPr>
            <p:cNvPr id="4" name="Rectangle 3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4147820" y="3931041"/>
            <a:ext cx="1676400" cy="2590800"/>
            <a:chOff x="762000" y="1524000"/>
            <a:chExt cx="1676400" cy="2590800"/>
          </a:xfrm>
        </p:grpSpPr>
        <p:sp>
          <p:nvSpPr>
            <p:cNvPr id="80" name="Rectangle 79"/>
            <p:cNvSpPr/>
            <p:nvPr/>
          </p:nvSpPr>
          <p:spPr>
            <a:xfrm>
              <a:off x="762000" y="1524000"/>
              <a:ext cx="1676400" cy="2590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62000" y="1524000"/>
              <a:ext cx="1676400" cy="5524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62000" y="207645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762000" y="247610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762000" y="2876158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762000" y="3276600"/>
              <a:ext cx="1676400" cy="4004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057400" y="1524000"/>
              <a:ext cx="3810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762000" y="1524000"/>
              <a:ext cx="381000" cy="5524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2133600" y="217597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2133600" y="2576316"/>
              <a:ext cx="228600" cy="2000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133600" y="3376808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133600" y="38100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133600" y="2976365"/>
              <a:ext cx="228600" cy="200025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133600" y="160020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838200" y="1577975"/>
              <a:ext cx="228600" cy="20002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838200" y="1828800"/>
              <a:ext cx="228600" cy="200025"/>
            </a:xfrm>
            <a:prstGeom prst="rect">
              <a:avLst/>
            </a:prstGeom>
            <a:solidFill>
              <a:srgbClr val="0C12F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9" name="Elbow Connector 98"/>
          <p:cNvCxnSpPr>
            <a:stCxn id="34" idx="3"/>
            <a:endCxn id="95" idx="1"/>
          </p:cNvCxnSpPr>
          <p:nvPr/>
        </p:nvCxnSpPr>
        <p:spPr>
          <a:xfrm>
            <a:off x="1932940" y="4304321"/>
            <a:ext cx="2291080" cy="31533"/>
          </a:xfrm>
          <a:prstGeom prst="bentConnector3">
            <a:avLst/>
          </a:prstGeom>
          <a:ln w="44450">
            <a:solidFill>
              <a:srgbClr val="0C12FA"/>
            </a:solidFill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/>
          <p:cNvCxnSpPr>
            <a:stCxn id="31" idx="3"/>
            <a:endCxn id="59" idx="1"/>
          </p:cNvCxnSpPr>
          <p:nvPr/>
        </p:nvCxnSpPr>
        <p:spPr>
          <a:xfrm flipV="1">
            <a:off x="1932940" y="2042072"/>
            <a:ext cx="4847006" cy="628220"/>
          </a:xfrm>
          <a:prstGeom prst="bentConnector3">
            <a:avLst/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/>
          <p:cNvCxnSpPr>
            <a:stCxn id="88" idx="3"/>
            <a:endCxn id="28" idx="1"/>
          </p:cNvCxnSpPr>
          <p:nvPr/>
        </p:nvCxnSpPr>
        <p:spPr>
          <a:xfrm>
            <a:off x="5748020" y="4683025"/>
            <a:ext cx="1031927" cy="524954"/>
          </a:xfrm>
          <a:prstGeom prst="bentConnector3">
            <a:avLst>
              <a:gd name="adj1" fmla="val 50000"/>
            </a:avLst>
          </a:prstGeom>
          <a:ln w="444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/>
          <p:cNvGrpSpPr/>
          <p:nvPr/>
        </p:nvGrpSpPr>
        <p:grpSpPr>
          <a:xfrm>
            <a:off x="6688668" y="1437234"/>
            <a:ext cx="1905001" cy="1600715"/>
            <a:chOff x="3581399" y="1573015"/>
            <a:chExt cx="1905001" cy="1600715"/>
          </a:xfrm>
        </p:grpSpPr>
        <p:sp>
          <p:nvSpPr>
            <p:cNvPr id="53" name="Rectangle 52"/>
            <p:cNvSpPr/>
            <p:nvPr/>
          </p:nvSpPr>
          <p:spPr>
            <a:xfrm>
              <a:off x="3581400" y="2773680"/>
              <a:ext cx="1905000" cy="40005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3581400" y="1573015"/>
              <a:ext cx="1905000" cy="1600200"/>
              <a:chOff x="5486400" y="1676400"/>
              <a:chExt cx="1371600" cy="1066800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5486400" y="1676400"/>
                <a:ext cx="1371600" cy="10668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5486400" y="1676400"/>
                <a:ext cx="1371600" cy="2667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5486400" y="1943100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5486400" y="2210192"/>
                <a:ext cx="1371600" cy="2667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5" name="Rectangle 54"/>
            <p:cNvSpPr/>
            <p:nvPr/>
          </p:nvSpPr>
          <p:spPr>
            <a:xfrm>
              <a:off x="3581399" y="1573015"/>
              <a:ext cx="423333" cy="1600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672677" y="1673027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672677" y="2872981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672677" y="2473715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672677" y="2077840"/>
              <a:ext cx="228600" cy="2000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181993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1072896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804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7650"/>
            <a:ext cx="11125200" cy="695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5812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6294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&lt;VOTABLE&gt;</a:t>
            </a:r>
          </a:p>
          <a:p>
            <a:pPr marL="0" indent="0">
              <a:buNone/>
            </a:pPr>
            <a:r>
              <a:rPr lang="en-US" dirty="0"/>
              <a:t>    &lt;GROUP utype="</a:t>
            </a:r>
            <a:r>
              <a:rPr lang="en-US" dirty="0" err="1"/>
              <a:t>vo-dml:Model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        &lt;PARAM name="</a:t>
            </a:r>
            <a:r>
              <a:rPr lang="en-US" dirty="0" err="1"/>
              <a:t>url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vo-dml:Model.url</a:t>
            </a:r>
            <a:r>
              <a:rPr lang="en-US" dirty="0"/>
              <a:t>" value="http://volute.googlecode.com/</a:t>
            </a:r>
            <a:r>
              <a:rPr lang="en-US" dirty="0" err="1"/>
              <a:t>svn</a:t>
            </a:r>
            <a:r>
              <a:rPr lang="en-US" dirty="0"/>
              <a:t>/trunk/projects/</a:t>
            </a:r>
            <a:r>
              <a:rPr lang="en-US" dirty="0" err="1"/>
              <a:t>dm</a:t>
            </a:r>
            <a:r>
              <a:rPr lang="en-US" dirty="0"/>
              <a:t>/</a:t>
            </a:r>
            <a:r>
              <a:rPr lang="en-US" dirty="0" err="1"/>
              <a:t>vo-dml</a:t>
            </a:r>
            <a:r>
              <a:rPr lang="en-US" dirty="0"/>
              <a:t>/models/</a:t>
            </a:r>
            <a:r>
              <a:rPr lang="en-US" dirty="0" err="1"/>
              <a:t>ivoa</a:t>
            </a:r>
            <a:r>
              <a:rPr lang="en-US" dirty="0"/>
              <a:t>/IVOA.vo-dml.xml"/&gt;</a:t>
            </a:r>
          </a:p>
          <a:p>
            <a:pPr marL="0" indent="0">
              <a:buNone/>
            </a:pPr>
            <a:r>
              <a:rPr lang="en-US" dirty="0"/>
              <a:t>        &lt;PARAM name="prefix"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vo-dml:Model.prefix</a:t>
            </a:r>
            <a:r>
              <a:rPr lang="en-US" dirty="0"/>
              <a:t>" value="</a:t>
            </a:r>
            <a:r>
              <a:rPr lang="en-US" dirty="0" err="1"/>
              <a:t>ivoa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&lt;/GROUP&gt;</a:t>
            </a:r>
          </a:p>
          <a:p>
            <a:pPr marL="0" indent="0">
              <a:buNone/>
            </a:pPr>
            <a:r>
              <a:rPr lang="en-US" dirty="0"/>
              <a:t>    &lt;GROUP utype="</a:t>
            </a:r>
            <a:r>
              <a:rPr lang="en-US" dirty="0" err="1"/>
              <a:t>vo-dml:Model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        &lt;PARAM name="</a:t>
            </a:r>
            <a:r>
              <a:rPr lang="en-US" dirty="0" err="1"/>
              <a:t>url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vo-dml:Model.url</a:t>
            </a:r>
            <a:r>
              <a:rPr lang="en-US" dirty="0"/>
              <a:t>" value="http://localhost:8080/VODML-Mapper/</a:t>
            </a:r>
            <a:r>
              <a:rPr lang="en-US" dirty="0" err="1"/>
              <a:t>vo-dml</a:t>
            </a:r>
            <a:r>
              <a:rPr lang="en-US" dirty="0"/>
              <a:t>/VO-DML.vo-dml.xml"/&gt;</a:t>
            </a:r>
          </a:p>
          <a:p>
            <a:pPr marL="0" indent="0">
              <a:buNone/>
            </a:pPr>
            <a:r>
              <a:rPr lang="en-US" dirty="0"/>
              <a:t>        &lt;PARAM name="prefix"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vo-dml:Model.prefix</a:t>
            </a:r>
            <a:r>
              <a:rPr lang="en-US" dirty="0"/>
              <a:t>" value="</a:t>
            </a:r>
            <a:r>
              <a:rPr lang="en-US" dirty="0" err="1"/>
              <a:t>vo-dml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&lt;/GROUP&gt;</a:t>
            </a:r>
          </a:p>
          <a:p>
            <a:pPr marL="0" indent="0">
              <a:buNone/>
            </a:pPr>
            <a:r>
              <a:rPr lang="en-US" dirty="0"/>
              <a:t>    &lt;GROUP utype="</a:t>
            </a:r>
            <a:r>
              <a:rPr lang="en-US" dirty="0" err="1"/>
              <a:t>vo-dml:Model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        &lt;PARAM name="</a:t>
            </a:r>
            <a:r>
              <a:rPr lang="en-US" dirty="0" err="1"/>
              <a:t>url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vo-dml:Model.url</a:t>
            </a:r>
            <a:r>
              <a:rPr lang="en-US" dirty="0"/>
              <a:t>" value="https://volute.googlecode.com/</a:t>
            </a:r>
            <a:r>
              <a:rPr lang="en-US" dirty="0" err="1"/>
              <a:t>svn</a:t>
            </a:r>
            <a:r>
              <a:rPr lang="en-US" dirty="0"/>
              <a:t>/trunk/projects/</a:t>
            </a:r>
            <a:r>
              <a:rPr lang="en-US" dirty="0" err="1"/>
              <a:t>dm</a:t>
            </a:r>
            <a:r>
              <a:rPr lang="en-US" dirty="0"/>
              <a:t>/</a:t>
            </a:r>
            <a:r>
              <a:rPr lang="en-US" dirty="0" err="1"/>
              <a:t>vo-dml</a:t>
            </a:r>
            <a:r>
              <a:rPr lang="en-US" dirty="0"/>
              <a:t>/models/</a:t>
            </a:r>
            <a:r>
              <a:rPr lang="en-US" dirty="0" err="1"/>
              <a:t>photdm</a:t>
            </a:r>
            <a:r>
              <a:rPr lang="en-US" dirty="0"/>
              <a:t>-alt/PhotDM-alt.vo-dml.xml"/&gt;</a:t>
            </a:r>
          </a:p>
          <a:p>
            <a:pPr marL="0" indent="0">
              <a:buNone/>
            </a:pPr>
            <a:r>
              <a:rPr lang="en-US" dirty="0"/>
              <a:t>        &lt;PARAM name="prefix"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vo-dml:Model.prefix</a:t>
            </a:r>
            <a:r>
              <a:rPr lang="en-US" dirty="0"/>
              <a:t>" value="</a:t>
            </a:r>
            <a:r>
              <a:rPr lang="en-US" dirty="0" err="1"/>
              <a:t>photdm</a:t>
            </a:r>
            <a:r>
              <a:rPr lang="en-US" dirty="0"/>
              <a:t>-alt"/&gt;</a:t>
            </a:r>
          </a:p>
          <a:p>
            <a:pPr marL="0" indent="0">
              <a:buNone/>
            </a:pPr>
            <a:r>
              <a:rPr lang="en-US" dirty="0"/>
              <a:t>    &lt;/GROUP&gt;</a:t>
            </a:r>
          </a:p>
          <a:p>
            <a:pPr marL="0" indent="0">
              <a:buNone/>
            </a:pPr>
            <a:r>
              <a:rPr lang="en-US" dirty="0"/>
              <a:t>    &lt;GROUP utype="</a:t>
            </a:r>
            <a:r>
              <a:rPr lang="en-US" dirty="0" err="1"/>
              <a:t>vo-dml:Model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        &lt;PARAM name="</a:t>
            </a:r>
            <a:r>
              <a:rPr lang="en-US" dirty="0" err="1"/>
              <a:t>url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vo-dml:Model.url</a:t>
            </a:r>
            <a:r>
              <a:rPr lang="en-US" dirty="0"/>
              <a:t>" value="http://localhost:8080/VODML-Mapper/</a:t>
            </a:r>
            <a:r>
              <a:rPr lang="en-US" dirty="0" err="1"/>
              <a:t>vo-dml</a:t>
            </a:r>
            <a:r>
              <a:rPr lang="en-US" dirty="0"/>
              <a:t>/SourceDM.vo-dml.xml"/&gt;</a:t>
            </a:r>
          </a:p>
          <a:p>
            <a:pPr marL="0" indent="0">
              <a:buNone/>
            </a:pPr>
            <a:r>
              <a:rPr lang="en-US" dirty="0"/>
              <a:t>        &lt;PARAM name="prefix"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vo-dml:Model.prefix</a:t>
            </a:r>
            <a:r>
              <a:rPr lang="en-US" dirty="0"/>
              <a:t>" value="</a:t>
            </a:r>
            <a:r>
              <a:rPr lang="en-US" dirty="0" err="1"/>
              <a:t>src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&lt;/GROUP&gt;</a:t>
            </a:r>
          </a:p>
          <a:p>
            <a:pPr marL="0" indent="0">
              <a:buNone/>
            </a:pPr>
            <a:r>
              <a:rPr lang="en-US" dirty="0"/>
              <a:t>    &lt;RESOURCE&gt;</a:t>
            </a:r>
          </a:p>
          <a:p>
            <a:pPr marL="0" indent="0">
              <a:buNone/>
            </a:pPr>
            <a:r>
              <a:rPr lang="en-US" dirty="0"/>
              <a:t>        &lt;GROUP utype="</a:t>
            </a:r>
            <a:r>
              <a:rPr lang="en-US" dirty="0" err="1"/>
              <a:t>vo-dml:Instance.root</a:t>
            </a:r>
            <a:r>
              <a:rPr lang="en-US" dirty="0"/>
              <a:t>" ID="T1378301495159_70"&gt;</a:t>
            </a:r>
          </a:p>
          <a:p>
            <a:pPr marL="0" indent="0">
              <a:buNone/>
            </a:pPr>
            <a:r>
              <a:rPr lang="en-US" dirty="0"/>
              <a:t>            &lt;PARAM name="_type"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vo-dml:Instance.type</a:t>
            </a:r>
            <a:r>
              <a:rPr lang="en-US" dirty="0"/>
              <a:t>" value="</a:t>
            </a:r>
            <a:r>
              <a:rPr lang="en-US" dirty="0" err="1"/>
              <a:t>photdm-alt:PhotometryFilter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&lt;PARAM name="undefined"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photdm-alt:PhotometryFilter.name</a:t>
            </a:r>
            <a:r>
              <a:rPr lang="en-US" dirty="0"/>
              <a:t>" value="2MASS_J"/&gt;</a:t>
            </a:r>
          </a:p>
          <a:p>
            <a:pPr marL="0" indent="0">
              <a:buNone/>
            </a:pPr>
            <a:r>
              <a:rPr lang="en-US" dirty="0"/>
              <a:t>        &lt;/GROUP&gt;</a:t>
            </a:r>
          </a:p>
          <a:p>
            <a:pPr marL="0" indent="0">
              <a:buNone/>
            </a:pPr>
            <a:r>
              <a:rPr lang="en-US" dirty="0"/>
              <a:t>        &lt;GROUP utype="</a:t>
            </a:r>
            <a:r>
              <a:rPr lang="en-US" dirty="0" err="1"/>
              <a:t>vo-dml:Instance.root</a:t>
            </a:r>
            <a:r>
              <a:rPr lang="en-US" dirty="0"/>
              <a:t>" ID="T1378301495159_90"&gt;</a:t>
            </a:r>
          </a:p>
          <a:p>
            <a:pPr marL="0" indent="0">
              <a:buNone/>
            </a:pPr>
            <a:r>
              <a:rPr lang="en-US" dirty="0"/>
              <a:t>            &lt;PARAM name="_type"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vo-dml:Instance.type</a:t>
            </a:r>
            <a:r>
              <a:rPr lang="en-US" dirty="0"/>
              <a:t>" value="</a:t>
            </a:r>
            <a:r>
              <a:rPr lang="en-US" dirty="0" err="1"/>
              <a:t>photdm-alt:PhotometryFilter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&lt;PARAM name="undefined"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photdm-alt:PhotometryFilter.name</a:t>
            </a:r>
            <a:r>
              <a:rPr lang="en-US" dirty="0"/>
              <a:t>" value="2MASS_H"/&gt;</a:t>
            </a:r>
          </a:p>
          <a:p>
            <a:pPr marL="0" indent="0">
              <a:buNone/>
            </a:pPr>
            <a:r>
              <a:rPr lang="en-US" dirty="0"/>
              <a:t>        &lt;/GROUP&gt;</a:t>
            </a:r>
          </a:p>
          <a:p>
            <a:pPr marL="0" indent="0">
              <a:buNone/>
            </a:pPr>
            <a:r>
              <a:rPr lang="en-US" dirty="0"/>
              <a:t>        &lt;GROUP utype="</a:t>
            </a:r>
            <a:r>
              <a:rPr lang="en-US" dirty="0" err="1"/>
              <a:t>vo-dml:Instance.root</a:t>
            </a:r>
            <a:r>
              <a:rPr lang="en-US" dirty="0"/>
              <a:t>" ID="T1378301495159_136"&gt;</a:t>
            </a:r>
          </a:p>
          <a:p>
            <a:pPr marL="0" indent="0">
              <a:buNone/>
            </a:pPr>
            <a:r>
              <a:rPr lang="en-US" dirty="0"/>
              <a:t>            &lt;PARAM name="_type"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vo-dml:Instance.type</a:t>
            </a:r>
            <a:r>
              <a:rPr lang="en-US" dirty="0"/>
              <a:t>" value="</a:t>
            </a:r>
            <a:r>
              <a:rPr lang="en-US" dirty="0" err="1"/>
              <a:t>photdm-alt:PhotometryFilter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&lt;PARAM name="undefined"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photdm-alt:PhotometryFilter.name</a:t>
            </a:r>
            <a:r>
              <a:rPr lang="en-US" dirty="0"/>
              <a:t>" value="2MASS_K"/&gt;</a:t>
            </a:r>
          </a:p>
          <a:p>
            <a:pPr marL="0" indent="0">
              <a:buNone/>
            </a:pPr>
            <a:r>
              <a:rPr lang="en-US" dirty="0"/>
              <a:t>        &lt;/GROUP&gt;</a:t>
            </a:r>
          </a:p>
          <a:p>
            <a:pPr marL="0" indent="0">
              <a:buNone/>
            </a:pPr>
            <a:r>
              <a:rPr lang="en-US" dirty="0"/>
              <a:t>    &lt;/RESOURCE&gt;</a:t>
            </a:r>
          </a:p>
          <a:p>
            <a:pPr marL="0" indent="0">
              <a:buNone/>
            </a:pPr>
            <a:r>
              <a:rPr lang="en-US" dirty="0"/>
              <a:t>    &lt;RESOURCE&gt;</a:t>
            </a:r>
          </a:p>
          <a:p>
            <a:pPr marL="0" indent="0">
              <a:buNone/>
            </a:pPr>
            <a:r>
              <a:rPr lang="en-US" dirty="0"/>
              <a:t>        &lt;TABLE ID="T1378301495159_19"&gt;</a:t>
            </a:r>
          </a:p>
          <a:p>
            <a:pPr marL="0" indent="0">
              <a:buNone/>
            </a:pPr>
            <a:r>
              <a:rPr lang="en-US" dirty="0"/>
              <a:t>            &lt;GROUP utype="</a:t>
            </a:r>
            <a:r>
              <a:rPr lang="en-US" dirty="0" err="1"/>
              <a:t>vo-dml:Instance.root</a:t>
            </a:r>
            <a:r>
              <a:rPr lang="en-US" dirty="0"/>
              <a:t>" ID="T1378301495159_6"&gt;</a:t>
            </a:r>
          </a:p>
          <a:p>
            <a:pPr marL="0" indent="0">
              <a:buNone/>
            </a:pPr>
            <a:r>
              <a:rPr lang="en-US" dirty="0"/>
              <a:t>                &lt;PARAM name="_type"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vo-dml:Instance.type</a:t>
            </a:r>
            <a:r>
              <a:rPr lang="en-US" dirty="0"/>
              <a:t>" value="</a:t>
            </a:r>
            <a:r>
              <a:rPr lang="en-US" dirty="0" err="1"/>
              <a:t>src:source.Source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&lt;GROUP utype="</a:t>
            </a:r>
            <a:r>
              <a:rPr lang="en-US" dirty="0" err="1"/>
              <a:t>src:source.Source.position</a:t>
            </a:r>
            <a:r>
              <a:rPr lang="en-US" dirty="0"/>
              <a:t>" ID="T1378301495159_46"&gt;</a:t>
            </a:r>
          </a:p>
          <a:p>
            <a:pPr marL="0" indent="0">
              <a:buNone/>
            </a:pPr>
            <a:r>
              <a:rPr lang="en-US" dirty="0"/>
              <a:t>                    &lt;PARAM name="_type"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vo-dml:Instance.type</a:t>
            </a:r>
            <a:r>
              <a:rPr lang="en-US" dirty="0"/>
              <a:t>" value="</a:t>
            </a:r>
            <a:r>
              <a:rPr lang="en-US" dirty="0" err="1"/>
              <a:t>src:source.SkyCoordinate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    &lt;FIELDref ref="T1378301495159_19_F1" utype="</a:t>
            </a:r>
            <a:r>
              <a:rPr lang="en-US" dirty="0" err="1"/>
              <a:t>src:source.SkyCoordinate.longitude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    &lt;FIELDref ref="T1378301495159_19_F2" utype="</a:t>
            </a:r>
            <a:r>
              <a:rPr lang="en-US" dirty="0" err="1"/>
              <a:t>src:source.SkyCoordinate.latitude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&lt;/GROUP&gt;</a:t>
            </a:r>
          </a:p>
          <a:p>
            <a:pPr marL="0" indent="0">
              <a:buNone/>
            </a:pPr>
            <a:r>
              <a:rPr lang="en-US" dirty="0"/>
              <a:t>                &lt;GROUP utype="</a:t>
            </a:r>
            <a:r>
              <a:rPr lang="en-US" dirty="0" err="1"/>
              <a:t>src:source.Source.positionError</a:t>
            </a:r>
            <a:r>
              <a:rPr lang="en-US" dirty="0"/>
              <a:t>" ID="T1378301495159_52"&gt;</a:t>
            </a:r>
          </a:p>
          <a:p>
            <a:pPr marL="0" indent="0">
              <a:buNone/>
            </a:pPr>
            <a:r>
              <a:rPr lang="en-US" dirty="0"/>
              <a:t>                    &lt;PARAM name="_type"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vo-dml:Instance.type</a:t>
            </a:r>
            <a:r>
              <a:rPr lang="en-US" dirty="0"/>
              <a:t>" value="</a:t>
            </a:r>
            <a:r>
              <a:rPr lang="en-US" dirty="0" err="1"/>
              <a:t>src:source.GenericEllipse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    &lt;FIELDref ref="T1378301495159_19_F5" utype="</a:t>
            </a:r>
            <a:r>
              <a:rPr lang="en-US" dirty="0" err="1"/>
              <a:t>src:source.GenericEllipse.major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    &lt;FIELDref ref="T1378301495159_19_F6" utype="</a:t>
            </a:r>
            <a:r>
              <a:rPr lang="en-US" dirty="0" err="1"/>
              <a:t>src:source.GenericEllipse.minor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    &lt;FIELDref ref="T1378301495159_19_F7" utype="</a:t>
            </a:r>
            <a:r>
              <a:rPr lang="en-US" dirty="0" err="1"/>
              <a:t>src:source.GenericEllipse.pa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&lt;/GROUP&gt;</a:t>
            </a:r>
          </a:p>
          <a:p>
            <a:pPr marL="0" indent="0">
              <a:buNone/>
            </a:pPr>
            <a:r>
              <a:rPr lang="en-US" dirty="0"/>
              <a:t>                &lt;FIELDref ref="T1378301495159_19_F0" utype="</a:t>
            </a:r>
            <a:r>
              <a:rPr lang="en-US" dirty="0" err="1"/>
              <a:t>vo-dml:Object.ID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&lt;GROUP utype="</a:t>
            </a:r>
            <a:r>
              <a:rPr lang="en-US" dirty="0" err="1"/>
              <a:t>src:source.Source.luminosity</a:t>
            </a:r>
            <a:r>
              <a:rPr lang="en-US" dirty="0"/>
              <a:t>" ID="T1378301495159_58"&gt;</a:t>
            </a:r>
          </a:p>
          <a:p>
            <a:pPr marL="0" indent="0">
              <a:buNone/>
            </a:pPr>
            <a:r>
              <a:rPr lang="en-US" dirty="0"/>
              <a:t>                    &lt;PARAM name="_type"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vo-dml:Instance.type</a:t>
            </a:r>
            <a:r>
              <a:rPr lang="en-US" dirty="0"/>
              <a:t>" value="</a:t>
            </a:r>
            <a:r>
              <a:rPr lang="en-US" dirty="0" err="1"/>
              <a:t>src:source.LuminosityMeasurement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    &lt;FIELDref ref="T1378301495159_19_F8" utype="</a:t>
            </a:r>
            <a:r>
              <a:rPr lang="en-US" dirty="0" err="1"/>
              <a:t>src:source.LuminosityMeasurement.value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    &lt;FIELDref ref="T1378301495159_19_F10" utype="</a:t>
            </a:r>
            <a:r>
              <a:rPr lang="en-US" dirty="0" err="1"/>
              <a:t>src:source.LuminosityMeasurement.error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    &lt;GROUP utype="</a:t>
            </a:r>
            <a:r>
              <a:rPr lang="en-US" dirty="0" err="1"/>
              <a:t>src:source.LuminosityMeasurement.filter</a:t>
            </a:r>
            <a:r>
              <a:rPr lang="en-US" dirty="0"/>
              <a:t>" ref="T1378301495159_70"/&gt;&lt;/GROUP</a:t>
            </a:r>
            <a:r>
              <a:rPr lang="en-US" dirty="0" smtClean="0"/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59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763000" cy="66294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 smtClean="0"/>
              <a:t>                       &lt;</a:t>
            </a:r>
            <a:r>
              <a:rPr lang="en-US" dirty="0"/>
              <a:t>PARAM name="_type"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vo-dml:Instance.type</a:t>
            </a:r>
            <a:r>
              <a:rPr lang="en-US" dirty="0"/>
              <a:t>" value="</a:t>
            </a:r>
            <a:r>
              <a:rPr lang="en-US" dirty="0" err="1"/>
              <a:t>src:source.LuminosityMeasurement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    &lt;GROUP utype="</a:t>
            </a:r>
            <a:r>
              <a:rPr lang="en-US" dirty="0" err="1"/>
              <a:t>src:source.LuminosityMeasurement.filter</a:t>
            </a:r>
            <a:r>
              <a:rPr lang="en-US" dirty="0"/>
              <a:t>" ref="T1378301495159_90"/&gt;</a:t>
            </a:r>
          </a:p>
          <a:p>
            <a:pPr marL="0" indent="0">
              <a:buNone/>
            </a:pPr>
            <a:r>
              <a:rPr lang="en-US" dirty="0"/>
              <a:t>                    &lt;FIELDref ref="T1378301495159_19_F12" utype="</a:t>
            </a:r>
            <a:r>
              <a:rPr lang="en-US" dirty="0" err="1"/>
              <a:t>src:source.LuminosityMeasurement.value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    &lt;FIELDref ref="T1378301495159_19_F14" utype="</a:t>
            </a:r>
            <a:r>
              <a:rPr lang="en-US" dirty="0" err="1"/>
              <a:t>src:source.LuminosityMeasurement.error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&lt;/GROUP&gt;</a:t>
            </a:r>
          </a:p>
          <a:p>
            <a:pPr marL="0" indent="0">
              <a:buNone/>
            </a:pPr>
            <a:r>
              <a:rPr lang="en-US" dirty="0"/>
              <a:t>                &lt;GROUP utype="</a:t>
            </a:r>
            <a:r>
              <a:rPr lang="en-US" dirty="0" err="1"/>
              <a:t>src:source.Source.luminosity</a:t>
            </a:r>
            <a:r>
              <a:rPr lang="en-US" dirty="0"/>
              <a:t>" ID="T1378301495159_124"&gt;</a:t>
            </a:r>
          </a:p>
          <a:p>
            <a:pPr marL="0" indent="0">
              <a:buNone/>
            </a:pPr>
            <a:r>
              <a:rPr lang="en-US" dirty="0"/>
              <a:t>                    &lt;PARAM name="_type"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utype="</a:t>
            </a:r>
            <a:r>
              <a:rPr lang="en-US" dirty="0" err="1"/>
              <a:t>vo-dml:Instance.type</a:t>
            </a:r>
            <a:r>
              <a:rPr lang="en-US" dirty="0"/>
              <a:t>" value="</a:t>
            </a:r>
            <a:r>
              <a:rPr lang="en-US" dirty="0" err="1"/>
              <a:t>src:source.LuminosityMeasurement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    &lt;GROUP utype="</a:t>
            </a:r>
            <a:r>
              <a:rPr lang="en-US" dirty="0" err="1"/>
              <a:t>src:source.LuminosityMeasurement.filter</a:t>
            </a:r>
            <a:r>
              <a:rPr lang="en-US" dirty="0"/>
              <a:t>" ref="T1378301495159_136"/&gt;</a:t>
            </a:r>
          </a:p>
          <a:p>
            <a:pPr marL="0" indent="0">
              <a:buNone/>
            </a:pPr>
            <a:r>
              <a:rPr lang="en-US" dirty="0"/>
              <a:t>                    &lt;FIELDref ref="T1378301495159_19_F16" utype="</a:t>
            </a:r>
            <a:r>
              <a:rPr lang="en-US" dirty="0" err="1"/>
              <a:t>src:source.LuminosityMeasurement.value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    &lt;FIELDref ref="T1378301495159_19_F18" utype="</a:t>
            </a:r>
            <a:r>
              <a:rPr lang="en-US" dirty="0" err="1"/>
              <a:t>src:source.LuminosityMeasurement.error</a:t>
            </a:r>
            <a:r>
              <a:rPr lang="en-US" dirty="0"/>
              <a:t>"/&gt;</a:t>
            </a:r>
          </a:p>
          <a:p>
            <a:pPr marL="0" indent="0">
              <a:buNone/>
            </a:pPr>
            <a:r>
              <a:rPr lang="en-US" dirty="0"/>
              <a:t>                &lt;/GROUP&gt;</a:t>
            </a:r>
          </a:p>
          <a:p>
            <a:pPr marL="0" indent="0">
              <a:buNone/>
            </a:pPr>
            <a:r>
              <a:rPr lang="en-US" dirty="0"/>
              <a:t>            &lt;/GROUP&gt;</a:t>
            </a:r>
          </a:p>
          <a:p>
            <a:pPr marL="0" indent="0">
              <a:buNone/>
            </a:pPr>
            <a:r>
              <a:rPr lang="en-US" dirty="0"/>
              <a:t>            &lt;INFO name="type" value="VOTABLE"/&gt;</a:t>
            </a:r>
          </a:p>
          <a:p>
            <a:pPr marL="0" indent="0">
              <a:buNone/>
            </a:pPr>
            <a:r>
              <a:rPr lang="en-US" dirty="0"/>
              <a:t>            &lt;INFO name="</a:t>
            </a:r>
            <a:r>
              <a:rPr lang="en-US" dirty="0" err="1"/>
              <a:t>votable_url</a:t>
            </a:r>
            <a:r>
              <a:rPr lang="en-US" dirty="0"/>
              <a:t>" value="UPLOAD:2mass.votable"/&gt;</a:t>
            </a:r>
          </a:p>
          <a:p>
            <a:pPr marL="0" indent="0">
              <a:buNone/>
            </a:pPr>
            <a:r>
              <a:rPr lang="en-US" dirty="0"/>
              <a:t>            &lt;INFO name="</a:t>
            </a:r>
            <a:r>
              <a:rPr lang="en-US" dirty="0" err="1"/>
              <a:t>table_rank</a:t>
            </a:r>
            <a:r>
              <a:rPr lang="en-US" dirty="0"/>
              <a:t>" value="1"/&gt;</a:t>
            </a:r>
          </a:p>
          <a:p>
            <a:pPr marL="0" indent="0">
              <a:buNone/>
            </a:pPr>
            <a:r>
              <a:rPr lang="en-US" dirty="0"/>
              <a:t>            &lt;INFO name="ID" value="_2MASS"/&gt;</a:t>
            </a:r>
          </a:p>
          <a:p>
            <a:pPr marL="0" indent="0">
              <a:buNone/>
            </a:pPr>
            <a:r>
              <a:rPr lang="en-US" dirty="0"/>
              <a:t>            &lt;FIELD name="designation"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</a:t>
            </a:r>
            <a:r>
              <a:rPr lang="en-US" dirty="0" err="1"/>
              <a:t>xtype</a:t>
            </a:r>
            <a:r>
              <a:rPr lang="en-US" dirty="0"/>
              <a:t>="null" ID="T1378301495159_19_F0"/&gt;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ra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ID="T1378301495159_19_F1"/&gt;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dec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ID="T1378301495159_19_F2"/&gt;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clon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</a:t>
            </a:r>
            <a:r>
              <a:rPr lang="en-US" dirty="0" err="1"/>
              <a:t>xtype</a:t>
            </a:r>
            <a:r>
              <a:rPr lang="en-US" dirty="0"/>
              <a:t>="null" ID="T1378301495159_19_F3"/&gt;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clat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</a:t>
            </a:r>
            <a:r>
              <a:rPr lang="en-US" dirty="0" err="1"/>
              <a:t>xtype</a:t>
            </a:r>
            <a:r>
              <a:rPr lang="en-US" dirty="0"/>
              <a:t>="null" ID="T1378301495159_19_F4"/&gt;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err_maj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ID="T1378301495159_19_F5"/&gt;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err_min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ID="T1378301495159_19_F6"/&gt;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err_ang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ID="T1378301495159_19_F7"/&gt;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j_m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ID="T1378301495159_19_F8"/&gt;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j_cmsig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ID="T1378301495159_19_F9"/&gt;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j_msigcom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ID="T1378301495159_19_F10"/&gt;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j_snr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ID="T1378301495159_19_F11"/&gt;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h_m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ID="T1378301495159_19_F12"/&gt;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h_cmsig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ID="T1378301495159_19_F13"/&gt;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h_msigcom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ID="T1378301495159_19_F14"/&gt;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h_snr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ID="T1378301495159_19_F15"/&gt;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k_m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ID="T1378301495159_19_F16"/&gt;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k_cmsig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ID="T1378301495159_19_F17"/&gt;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k_msigcom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ID="T1378301495159_19_F18"/&gt;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k_snr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ID="T1378301495159_19_F19"/&gt;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rd_flg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</a:t>
            </a:r>
            <a:r>
              <a:rPr lang="en-US" dirty="0" err="1"/>
              <a:t>xtype</a:t>
            </a:r>
            <a:r>
              <a:rPr lang="en-US" dirty="0"/>
              <a:t>="null" ID="T1378301495159_19_F20"/&gt;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cc_flg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</a:t>
            </a:r>
            <a:r>
              <a:rPr lang="en-US" dirty="0" err="1"/>
              <a:t>xtype</a:t>
            </a:r>
            <a:r>
              <a:rPr lang="en-US" dirty="0"/>
              <a:t>="null" ID="T1378301495159_19_F21"/&gt;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ph_qual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="char" </a:t>
            </a:r>
            <a:r>
              <a:rPr lang="en-US" dirty="0" err="1"/>
              <a:t>arraysize</a:t>
            </a:r>
            <a:r>
              <a:rPr lang="en-US" dirty="0"/>
              <a:t>="*" </a:t>
            </a:r>
            <a:r>
              <a:rPr lang="en-US" dirty="0" err="1"/>
              <a:t>xtype</a:t>
            </a:r>
            <a:r>
              <a:rPr lang="en-US" dirty="0"/>
              <a:t>="null" ID="T1378301495159_19_F22"/&gt;</a:t>
            </a:r>
          </a:p>
          <a:p>
            <a:pPr marL="0" indent="0">
              <a:buNone/>
            </a:pPr>
            <a:r>
              <a:rPr lang="en-US" dirty="0"/>
              <a:t>            &lt;FIELD name="angle"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ID="T1378301495159_19_F23"/&gt;</a:t>
            </a:r>
          </a:p>
          <a:p>
            <a:pPr marL="0" indent="0">
              <a:buNone/>
            </a:pPr>
            <a:r>
              <a:rPr lang="en-US" dirty="0"/>
              <a:t>            &lt;FIELD name="</a:t>
            </a:r>
            <a:r>
              <a:rPr lang="en-US" dirty="0" err="1"/>
              <a:t>dist</a:t>
            </a:r>
            <a:r>
              <a:rPr lang="en-US" dirty="0"/>
              <a:t>" </a:t>
            </a:r>
            <a:r>
              <a:rPr lang="en-US" dirty="0" err="1"/>
              <a:t>datatype</a:t>
            </a:r>
            <a:r>
              <a:rPr lang="en-US" dirty="0"/>
              <a:t>="float" </a:t>
            </a:r>
            <a:r>
              <a:rPr lang="en-US" dirty="0" err="1"/>
              <a:t>xtype</a:t>
            </a:r>
            <a:r>
              <a:rPr lang="en-US" dirty="0"/>
              <a:t>="null" ID="T1378301495159_19_F24"/&gt;</a:t>
            </a:r>
          </a:p>
          <a:p>
            <a:pPr marL="0" indent="0">
              <a:buNone/>
            </a:pPr>
            <a:r>
              <a:rPr lang="en-US" dirty="0"/>
              <a:t>        &lt;/TABLE&gt;</a:t>
            </a:r>
          </a:p>
          <a:p>
            <a:pPr marL="0" indent="0">
              <a:buNone/>
            </a:pPr>
            <a:r>
              <a:rPr lang="en-US" dirty="0"/>
              <a:t>    &lt;/RESOURCE&gt;</a:t>
            </a:r>
          </a:p>
          <a:p>
            <a:pPr marL="0" indent="0">
              <a:buNone/>
            </a:pPr>
            <a:r>
              <a:rPr lang="en-US" dirty="0"/>
              <a:t>&lt;/VOTABLE&gt;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08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10515</TotalTime>
  <Words>2600</Words>
  <Application>Microsoft Office PowerPoint</Application>
  <PresentationFormat>On-screen Show (4:3)</PresentationFormat>
  <Paragraphs>330</Paragraphs>
  <Slides>44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Mapping VO-DML data models to TABLEs</vt:lpstr>
      <vt:lpstr>This is NOT a data model</vt:lpstr>
      <vt:lpstr>This is a data model (a simple on)</vt:lpstr>
      <vt:lpstr>VO-DML</vt:lpstr>
      <vt:lpstr>Prototypes for VO-DML</vt:lpstr>
      <vt:lpstr>Prototypes for UTYPE mapping:  VO-DML Mapper</vt:lpstr>
      <vt:lpstr>Prototypes for UTYPE mapping:  Java based validator and interpreter</vt:lpstr>
      <vt:lpstr>Possible prototype effort (Laurent ?)</vt:lpstr>
      <vt:lpstr>VO-DML/VO-UML: Types</vt:lpstr>
      <vt:lpstr>VO-DML/VO-UML: Roles and Relationships</vt:lpstr>
      <vt:lpstr>Data Models describe Instances</vt:lpstr>
      <vt:lpstr>Mapping</vt:lpstr>
      <vt:lpstr>Visual mapping: VO-DML  (VO)Table(s)</vt:lpstr>
      <vt:lpstr>Mapper elements</vt:lpstr>
      <vt:lpstr>Instance of ObjectType,  i.e. Object</vt:lpstr>
      <vt:lpstr>Similar for Instance of Value Types i.e. Values</vt:lpstr>
      <vt:lpstr>Connectors used in visual mapping</vt:lpstr>
      <vt:lpstr>TABLE</vt:lpstr>
      <vt:lpstr>Visual mapping</vt:lpstr>
      <vt:lpstr>Mapping annotates serialized objects </vt:lpstr>
      <vt:lpstr>Singleton Object</vt:lpstr>
      <vt:lpstr>UTYPE annotation</vt:lpstr>
      <vt:lpstr>Objects in TABLE</vt:lpstr>
      <vt:lpstr>Objects in TABLE</vt:lpstr>
      <vt:lpstr>Relatively straightforward</vt:lpstr>
      <vt:lpstr>an “object-in GROUP” refers to other “object-in-GROUP”</vt:lpstr>
      <vt:lpstr>all objects in TABLE refer to same object in GROUP</vt:lpstr>
      <vt:lpstr>each row in TABLE contains both source and target objects of reference (using GROUPref, NO FK)</vt:lpstr>
      <vt:lpstr>object in GROUP contains another object in GROUP</vt:lpstr>
      <vt:lpstr>object-in-GROUP contains multiple  objects-in-GROUP</vt:lpstr>
      <vt:lpstr>each row in TABLE contains both parent and child object of collection (“flattening”)</vt:lpstr>
      <vt:lpstr>each row in TABLE contains both parent and multiple child objects of collection (“flattening”)</vt:lpstr>
      <vt:lpstr>all objects in table are contained by same parent(-in-GROUP)</vt:lpstr>
      <vt:lpstr>more complex: “referencing per ID” ala Object Relational Mapping (ORM)</vt:lpstr>
      <vt:lpstr>ID</vt:lpstr>
      <vt:lpstr>Assigning identifier.</vt:lpstr>
      <vt:lpstr>Default case (single field)</vt:lpstr>
      <vt:lpstr>Default case (single field)</vt:lpstr>
      <vt:lpstr>Object in 1 TABLE references object in another table (or other row in same TABLE)</vt:lpstr>
      <vt:lpstr>Object in 1 TABLE contains objects in another table (never (?) in other rows in same TABLE)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GerardLemson</dc:creator>
  <cp:lastModifiedBy>GerardLemson</cp:lastModifiedBy>
  <cp:revision>140</cp:revision>
  <dcterms:created xsi:type="dcterms:W3CDTF">2006-08-16T00:00:00Z</dcterms:created>
  <dcterms:modified xsi:type="dcterms:W3CDTF">2014-04-26T14:54:44Z</dcterms:modified>
</cp:coreProperties>
</file>